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84" r:id="rId2"/>
    <p:sldId id="283" r:id="rId3"/>
    <p:sldId id="261" r:id="rId4"/>
    <p:sldId id="285" r:id="rId5"/>
    <p:sldId id="286" r:id="rId6"/>
    <p:sldId id="294" r:id="rId7"/>
    <p:sldId id="295" r:id="rId8"/>
    <p:sldId id="263" r:id="rId9"/>
    <p:sldId id="282" r:id="rId10"/>
    <p:sldId id="264" r:id="rId11"/>
    <p:sldId id="262" r:id="rId12"/>
    <p:sldId id="270" r:id="rId13"/>
    <p:sldId id="289" r:id="rId14"/>
    <p:sldId id="288" r:id="rId15"/>
    <p:sldId id="291" r:id="rId16"/>
    <p:sldId id="290" r:id="rId17"/>
    <p:sldId id="292" r:id="rId18"/>
    <p:sldId id="293" r:id="rId19"/>
  </p:sldIdLst>
  <p:sldSz cx="12192000" cy="6858000"/>
  <p:notesSz cx="6858000" cy="9144000"/>
  <p:embeddedFontLst>
    <p:embeddedFont>
      <p:font typeface="Amasis MT Pro Medium" panose="02040604050005020304" pitchFamily="18" charset="0"/>
      <p:regular r:id="rId21"/>
      <p:italic r:id="rId22"/>
    </p:embeddedFont>
    <p:embeddedFont>
      <p:font typeface="Constantia" panose="02030602050306030303" pitchFamily="18" charset="0"/>
      <p:regular r:id="rId23"/>
      <p:bold r:id="rId24"/>
      <p:italic r:id="rId25"/>
      <p:boldItalic r:id="rId26"/>
    </p:embeddedFont>
    <p:embeddedFont>
      <p:font typeface="DM Sans" pitchFamily="2" charset="0"/>
      <p:regular r:id="rId27"/>
      <p:bold r:id="rId28"/>
      <p:italic r:id="rId29"/>
      <p:boldItalic r:id="rId30"/>
    </p:embeddedFont>
    <p:embeddedFont>
      <p:font typeface="DM Sans Medium" pitchFamily="2" charset="0"/>
      <p:regular r:id="rId31"/>
      <p:bold r:id="rId32"/>
      <p:italic r:id="rId33"/>
      <p:boldItalic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Merriweather" panose="00000500000000000000" pitchFamily="2" charset="0"/>
      <p:regular r:id="rId39"/>
      <p:bold r:id="rId40"/>
      <p:italic r:id="rId41"/>
      <p:boldItalic r:id="rId42"/>
    </p:embeddedFont>
    <p:embeddedFont>
      <p:font typeface="Poppins SemiBold" panose="00000700000000000000" pitchFamily="2" charset="0"/>
      <p:bold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9F7"/>
    <a:srgbClr val="888E99"/>
    <a:srgbClr val="526B7A"/>
    <a:srgbClr val="005088"/>
    <a:srgbClr val="4F81BD"/>
    <a:srgbClr val="EFF4FB"/>
    <a:srgbClr val="2655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8" autoAdjust="0"/>
    <p:restoredTop sz="94660"/>
  </p:normalViewPr>
  <p:slideViewPr>
    <p:cSldViewPr snapToGrid="0">
      <p:cViewPr varScale="1">
        <p:scale>
          <a:sx n="91" d="100"/>
          <a:sy n="91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viewProps" Target="viewProps.xml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9394C763-E34E-2B35-9913-AE4DCFEC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>
            <a:extLst>
              <a:ext uri="{FF2B5EF4-FFF2-40B4-BE49-F238E27FC236}">
                <a16:creationId xmlns:a16="http://schemas.microsoft.com/office/drawing/2014/main" id="{554242FB-7865-5964-D0B2-F6EDD698E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>
            <a:extLst>
              <a:ext uri="{FF2B5EF4-FFF2-40B4-BE49-F238E27FC236}">
                <a16:creationId xmlns:a16="http://schemas.microsoft.com/office/drawing/2014/main" id="{3046CB86-F219-68B7-1107-6D5B28A48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4694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1A67DE35-7992-E340-D123-515275CF4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>
            <a:extLst>
              <a:ext uri="{FF2B5EF4-FFF2-40B4-BE49-F238E27FC236}">
                <a16:creationId xmlns:a16="http://schemas.microsoft.com/office/drawing/2014/main" id="{19372246-406C-AB47-D674-EAE6822D3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>
            <a:extLst>
              <a:ext uri="{FF2B5EF4-FFF2-40B4-BE49-F238E27FC236}">
                <a16:creationId xmlns:a16="http://schemas.microsoft.com/office/drawing/2014/main" id="{0A30B97A-0C45-569D-4D50-F38C2851E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6545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gif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.sv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5.png"/><Relationship Id="rId5" Type="http://schemas.openxmlformats.org/officeDocument/2006/relationships/image" Target="../media/image7.sv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3.sv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2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4.sv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svg"/><Relationship Id="rId7" Type="http://schemas.openxmlformats.org/officeDocument/2006/relationships/image" Target="../media/image2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svg"/><Relationship Id="rId7" Type="http://schemas.openxmlformats.org/officeDocument/2006/relationships/image" Target="../media/image3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.sv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microsoft.com/office/2007/relationships/hdphoto" Target="../media/hdphoto1.wdp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1.png"/><Relationship Id="rId7" Type="http://schemas.openxmlformats.org/officeDocument/2006/relationships/image" Target="../media/image4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gif"/><Relationship Id="rId5" Type="http://schemas.openxmlformats.org/officeDocument/2006/relationships/image" Target="../media/image39.gif"/><Relationship Id="rId10" Type="http://schemas.openxmlformats.org/officeDocument/2006/relationships/image" Target="../media/image1.svg"/><Relationship Id="rId4" Type="http://schemas.microsoft.com/office/2007/relationships/hdphoto" Target="../media/hdphoto1.wdp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.sv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1.svg"/><Relationship Id="rId10" Type="http://schemas.openxmlformats.org/officeDocument/2006/relationships/image" Target="../media/image43.gif"/><Relationship Id="rId4" Type="http://schemas.openxmlformats.org/officeDocument/2006/relationships/image" Target="../media/image42.svg"/><Relationship Id="rId9" Type="http://schemas.openxmlformats.org/officeDocument/2006/relationships/image" Target="../media/image4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8.png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6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svg"/><Relationship Id="rId5" Type="http://schemas.openxmlformats.org/officeDocument/2006/relationships/image" Target="../media/image42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1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575083">
            <a:off x="-2637946" y="3960250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9" y="0"/>
                </a:lnTo>
                <a:lnTo>
                  <a:pt x="8668319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5"/>
          <p:cNvSpPr/>
          <p:nvPr/>
        </p:nvSpPr>
        <p:spPr>
          <a:xfrm rot="544328">
            <a:off x="8492516" y="-1221125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/>
          <p:cNvSpPr/>
          <p:nvPr/>
        </p:nvSpPr>
        <p:spPr>
          <a:xfrm rot="-2227017">
            <a:off x="-1011643" y="4471169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8" name="TextBox 8"/>
          <p:cNvSpPr txBox="1"/>
          <p:nvPr/>
        </p:nvSpPr>
        <p:spPr>
          <a:xfrm>
            <a:off x="1398892" y="846608"/>
            <a:ext cx="7580833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4800" b="1" dirty="0">
                <a:solidFill>
                  <a:srgbClr val="003366"/>
                </a:solidFill>
                <a:latin typeface="Constantia" panose="02030602050306030303" pitchFamily="18" charset="0"/>
                <a:ea typeface="Poppins"/>
                <a:cs typeface="Poppins"/>
                <a:sym typeface="Poppins"/>
              </a:rPr>
              <a:t>Autonomous Taxi Control</a:t>
            </a:r>
            <a:br>
              <a:rPr lang="en-US" sz="4800" dirty="0">
                <a:solidFill>
                  <a:schemeClr val="dk1"/>
                </a:solidFill>
                <a:latin typeface="Constantia" panose="02030602050306030303" pitchFamily="18" charset="0"/>
                <a:ea typeface="Calibri"/>
                <a:cs typeface="Calibri"/>
                <a:sym typeface="Calibri"/>
              </a:rPr>
            </a:br>
            <a:r>
              <a:rPr lang="en-US" sz="4800" b="1" dirty="0">
                <a:solidFill>
                  <a:srgbClr val="003366"/>
                </a:solidFill>
                <a:latin typeface="Constantia" panose="02030602050306030303" pitchFamily="18" charset="0"/>
                <a:ea typeface="Poppins"/>
                <a:cs typeface="Poppins"/>
                <a:sym typeface="Poppins"/>
              </a:rPr>
              <a:t> via Reward Designing .</a:t>
            </a:r>
            <a:endParaRPr lang="en-US" sz="4800" dirty="0">
              <a:latin typeface="Constantia" panose="02030602050306030303" pitchFamily="18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38982" y="3206013"/>
            <a:ext cx="4539944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1"/>
              </a:lnSpc>
            </a:pPr>
            <a:r>
              <a:rPr lang="en-US" sz="2849" dirty="0">
                <a:solidFill>
                  <a:srgbClr val="3B6492"/>
                </a:solidFill>
                <a:latin typeface="Amasis MT Pro Medium" panose="02040604050005020304" pitchFamily="18" charset="0"/>
                <a:ea typeface="Gungsuh" panose="020B0503020000020004" pitchFamily="18" charset="-127"/>
                <a:cs typeface="Itim"/>
                <a:sym typeface="Itim"/>
              </a:rPr>
              <a:t>SARSA, Prioritized Sweeping, &amp; Geometrical Kernels</a:t>
            </a:r>
          </a:p>
        </p:txBody>
      </p:sp>
      <p:sp>
        <p:nvSpPr>
          <p:cNvPr id="10" name="Freeform 10"/>
          <p:cNvSpPr/>
          <p:nvPr/>
        </p:nvSpPr>
        <p:spPr>
          <a:xfrm rot="-1214190">
            <a:off x="9125275" y="4857342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11" name="Freeform 11"/>
          <p:cNvSpPr/>
          <p:nvPr/>
        </p:nvSpPr>
        <p:spPr>
          <a:xfrm rot="3969514">
            <a:off x="7843138" y="2902650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2" name="Freeform 12"/>
          <p:cNvSpPr/>
          <p:nvPr/>
        </p:nvSpPr>
        <p:spPr>
          <a:xfrm rot="3969514">
            <a:off x="830304" y="2717862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93B5C76D-614D-1AEE-5B04-D7F9F714420E}"/>
              </a:ext>
            </a:extLst>
          </p:cNvPr>
          <p:cNvSpPr/>
          <p:nvPr/>
        </p:nvSpPr>
        <p:spPr>
          <a:xfrm rot="333374">
            <a:off x="8862892" y="2106243"/>
            <a:ext cx="2399040" cy="2479218"/>
          </a:xfrm>
          <a:custGeom>
            <a:avLst/>
            <a:gdLst/>
            <a:ahLst/>
            <a:cxnLst/>
            <a:rect l="l" t="t" r="r" b="b"/>
            <a:pathLst>
              <a:path w="3056278" h="3335224">
                <a:moveTo>
                  <a:pt x="0" y="0"/>
                </a:moveTo>
                <a:lnTo>
                  <a:pt x="3056278" y="0"/>
                </a:lnTo>
                <a:lnTo>
                  <a:pt x="3056278" y="3335224"/>
                </a:lnTo>
                <a:lnTo>
                  <a:pt x="0" y="3335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E392163C-0426-CCE4-7B3B-D4B9771EED39}"/>
              </a:ext>
            </a:extLst>
          </p:cNvPr>
          <p:cNvSpPr txBox="1"/>
          <p:nvPr/>
        </p:nvSpPr>
        <p:spPr>
          <a:xfrm>
            <a:off x="4108137" y="5227490"/>
            <a:ext cx="758083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2000" b="1" dirty="0">
                <a:solidFill>
                  <a:srgbClr val="003366"/>
                </a:solidFill>
                <a:latin typeface="DM Sans Medium" pitchFamily="2" charset="0"/>
                <a:ea typeface="Poppins"/>
                <a:cs typeface="Poppins"/>
                <a:sym typeface="Poppins"/>
              </a:rPr>
              <a:t>Presented by:</a:t>
            </a:r>
            <a:br>
              <a:rPr lang="en-US" sz="2000" b="1" dirty="0">
                <a:solidFill>
                  <a:srgbClr val="003366"/>
                </a:solidFill>
                <a:latin typeface="DM Sans Medium" pitchFamily="2" charset="0"/>
                <a:ea typeface="Poppins"/>
                <a:cs typeface="Poppins"/>
                <a:sym typeface="Poppins"/>
              </a:rPr>
            </a:br>
            <a:r>
              <a:rPr lang="en-US" sz="2000" dirty="0">
                <a:solidFill>
                  <a:srgbClr val="003366"/>
                </a:solidFill>
                <a:latin typeface="DM Sans Medium" pitchFamily="2" charset="0"/>
                <a:ea typeface="Poppins"/>
                <a:cs typeface="Poppins"/>
                <a:sym typeface="Poppins"/>
              </a:rPr>
              <a:t>Baraah Dahle</a:t>
            </a:r>
            <a:br>
              <a:rPr lang="en-US" sz="2000" dirty="0">
                <a:solidFill>
                  <a:srgbClr val="003366"/>
                </a:solidFill>
                <a:latin typeface="DM Sans Medium" pitchFamily="2" charset="0"/>
                <a:ea typeface="Poppins"/>
                <a:cs typeface="Poppins"/>
                <a:sym typeface="Poppins"/>
              </a:rPr>
            </a:br>
            <a:r>
              <a:rPr lang="en-US" sz="2000" dirty="0">
                <a:solidFill>
                  <a:srgbClr val="003366"/>
                </a:solidFill>
                <a:latin typeface="DM Sans Medium" pitchFamily="2" charset="0"/>
                <a:ea typeface="Poppins"/>
                <a:cs typeface="Poppins"/>
                <a:sym typeface="Poppins"/>
              </a:rPr>
              <a:t>Marwan Zayyad</a:t>
            </a:r>
            <a:endParaRPr lang="en-US" sz="2000" dirty="0">
              <a:latin typeface="DM Sans Medium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083">
            <a:off x="2735686" y="5606449"/>
            <a:ext cx="4156963" cy="2320341"/>
          </a:xfrm>
          <a:custGeom>
            <a:avLst/>
            <a:gdLst/>
            <a:ahLst/>
            <a:cxnLst/>
            <a:rect l="l" t="t" r="r" b="b"/>
            <a:pathLst>
              <a:path w="6235444" h="3480512">
                <a:moveTo>
                  <a:pt x="0" y="0"/>
                </a:moveTo>
                <a:lnTo>
                  <a:pt x="6235445" y="0"/>
                </a:lnTo>
                <a:lnTo>
                  <a:pt x="6235445" y="3480512"/>
                </a:lnTo>
                <a:lnTo>
                  <a:pt x="0" y="3480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/>
          <p:cNvSpPr/>
          <p:nvPr/>
        </p:nvSpPr>
        <p:spPr>
          <a:xfrm rot="-108981" flipH="1">
            <a:off x="9427719" y="-398760"/>
            <a:ext cx="4156963" cy="2320341"/>
          </a:xfrm>
          <a:custGeom>
            <a:avLst/>
            <a:gdLst/>
            <a:ahLst/>
            <a:cxnLst/>
            <a:rect l="l" t="t" r="r" b="b"/>
            <a:pathLst>
              <a:path w="6235444" h="3480512">
                <a:moveTo>
                  <a:pt x="6235444" y="0"/>
                </a:moveTo>
                <a:lnTo>
                  <a:pt x="0" y="0"/>
                </a:lnTo>
                <a:lnTo>
                  <a:pt x="0" y="3480512"/>
                </a:lnTo>
                <a:lnTo>
                  <a:pt x="6235444" y="3480512"/>
                </a:lnTo>
                <a:lnTo>
                  <a:pt x="62354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/>
          <p:cNvSpPr/>
          <p:nvPr/>
        </p:nvSpPr>
        <p:spPr>
          <a:xfrm rot="-2227017">
            <a:off x="-1244220" y="564774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5"/>
          <p:cNvSpPr/>
          <p:nvPr/>
        </p:nvSpPr>
        <p:spPr>
          <a:xfrm rot="-1214190">
            <a:off x="9125275" y="4857342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pic>
        <p:nvPicPr>
          <p:cNvPr id="8" name="Google Shape;94;p14" descr="image.png">
            <a:extLst>
              <a:ext uri="{FF2B5EF4-FFF2-40B4-BE49-F238E27FC236}">
                <a16:creationId xmlns:a16="http://schemas.microsoft.com/office/drawing/2014/main" id="{B83A47C7-438A-859D-3607-CBA40F128B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8924" y="2277570"/>
            <a:ext cx="5600700" cy="373657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5;p14">
            <a:extLst>
              <a:ext uri="{FF2B5EF4-FFF2-40B4-BE49-F238E27FC236}">
                <a16:creationId xmlns:a16="http://schemas.microsoft.com/office/drawing/2014/main" id="{3861860F-FA6C-4CC0-767B-2FF4E706A3D2}"/>
              </a:ext>
            </a:extLst>
          </p:cNvPr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Environment: Taxi-v4 Map</a:t>
            </a:r>
            <a:endParaRPr dirty="0"/>
          </a:p>
        </p:txBody>
      </p:sp>
      <p:sp>
        <p:nvSpPr>
          <p:cNvPr id="11" name="Google Shape;97;p14">
            <a:extLst>
              <a:ext uri="{FF2B5EF4-FFF2-40B4-BE49-F238E27FC236}">
                <a16:creationId xmlns:a16="http://schemas.microsoft.com/office/drawing/2014/main" id="{6B0654E7-435C-471D-495C-D313730245A7}"/>
              </a:ext>
            </a:extLst>
          </p:cNvPr>
          <p:cNvSpPr txBox="1"/>
          <p:nvPr/>
        </p:nvSpPr>
        <p:spPr>
          <a:xfrm>
            <a:off x="495300" y="2168681"/>
            <a:ext cx="5600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State Space Composition</a:t>
            </a:r>
            <a:endParaRPr dirty="0">
              <a:solidFill>
                <a:srgbClr val="005088"/>
              </a:solidFill>
            </a:endParaRPr>
          </a:p>
        </p:txBody>
      </p:sp>
      <p:sp>
        <p:nvSpPr>
          <p:cNvPr id="12" name="Google Shape;99;p14">
            <a:extLst>
              <a:ext uri="{FF2B5EF4-FFF2-40B4-BE49-F238E27FC236}">
                <a16:creationId xmlns:a16="http://schemas.microsoft.com/office/drawing/2014/main" id="{91121355-9CB0-EA53-E2C3-3D861DDCFF76}"/>
              </a:ext>
            </a:extLst>
          </p:cNvPr>
          <p:cNvSpPr txBox="1"/>
          <p:nvPr/>
        </p:nvSpPr>
        <p:spPr>
          <a:xfrm>
            <a:off x="828675" y="2663981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500 Discrete States: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Combinatorial product of Taxi(25) × Passenger(5) × Destination(4).</a:t>
            </a:r>
            <a:endParaRPr dirty="0"/>
          </a:p>
        </p:txBody>
      </p:sp>
      <p:sp>
        <p:nvSpPr>
          <p:cNvPr id="13" name="Google Shape;100;p14">
            <a:extLst>
              <a:ext uri="{FF2B5EF4-FFF2-40B4-BE49-F238E27FC236}">
                <a16:creationId xmlns:a16="http://schemas.microsoft.com/office/drawing/2014/main" id="{3A59F18E-38C7-0E78-DED9-E3E7C08F16D3}"/>
              </a:ext>
            </a:extLst>
          </p:cNvPr>
          <p:cNvSpPr txBox="1"/>
          <p:nvPr/>
        </p:nvSpPr>
        <p:spPr>
          <a:xfrm>
            <a:off x="828675" y="3340256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Action Space: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6 Discrete maneuvers (N, S, E, W, Pickup, Dropoff).</a:t>
            </a:r>
            <a:endParaRPr dirty="0"/>
          </a:p>
        </p:txBody>
      </p:sp>
      <p:sp>
        <p:nvSpPr>
          <p:cNvPr id="14" name="Google Shape;101;p14">
            <a:extLst>
              <a:ext uri="{FF2B5EF4-FFF2-40B4-BE49-F238E27FC236}">
                <a16:creationId xmlns:a16="http://schemas.microsoft.com/office/drawing/2014/main" id="{25AFB5E7-8E23-1235-1DCF-044811FD8E8E}"/>
              </a:ext>
            </a:extLst>
          </p:cNvPr>
          <p:cNvSpPr txBox="1"/>
          <p:nvPr/>
        </p:nvSpPr>
        <p:spPr>
          <a:xfrm>
            <a:off x="828675" y="4016531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Complexity: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Grid walls prevent direct Manhattan transit, requiring pathfinding.</a:t>
            </a:r>
            <a:endParaRPr dirty="0"/>
          </a:p>
        </p:txBody>
      </p:sp>
      <p:pic>
        <p:nvPicPr>
          <p:cNvPr id="15" name="Google Shape;102;p14" descr="image.png">
            <a:extLst>
              <a:ext uri="{FF2B5EF4-FFF2-40B4-BE49-F238E27FC236}">
                <a16:creationId xmlns:a16="http://schemas.microsoft.com/office/drawing/2014/main" id="{C9782A75-5F1B-8CB7-2611-C2341AB8B4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300" y="266398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03;p14" descr="image.png">
            <a:extLst>
              <a:ext uri="{FF2B5EF4-FFF2-40B4-BE49-F238E27FC236}">
                <a16:creationId xmlns:a16="http://schemas.microsoft.com/office/drawing/2014/main" id="{6210E18D-8BE9-2996-090C-CBA0DE67138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300" y="334025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04;p14" descr="image.png">
            <a:extLst>
              <a:ext uri="{FF2B5EF4-FFF2-40B4-BE49-F238E27FC236}">
                <a16:creationId xmlns:a16="http://schemas.microsoft.com/office/drawing/2014/main" id="{07C789FF-BBB9-D111-3451-6EFBB2FABFD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300" y="401653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C2F2C8-D785-D0EE-5119-CB77E66DF6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350" y="2464635"/>
            <a:ext cx="52387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083">
            <a:off x="-2159052" y="5849440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9" y="0"/>
                </a:lnTo>
                <a:lnTo>
                  <a:pt x="8668319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/>
          <p:cNvSpPr/>
          <p:nvPr/>
        </p:nvSpPr>
        <p:spPr>
          <a:xfrm rot="544328">
            <a:off x="8492516" y="-1221125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/>
          <p:cNvSpPr/>
          <p:nvPr/>
        </p:nvSpPr>
        <p:spPr>
          <a:xfrm rot="-2227017">
            <a:off x="-590616" y="6721701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5"/>
          <p:cNvSpPr/>
          <p:nvPr/>
        </p:nvSpPr>
        <p:spPr>
          <a:xfrm rot="-1214190">
            <a:off x="9294526" y="186200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6" name="Freeform 6"/>
          <p:cNvSpPr/>
          <p:nvPr/>
        </p:nvSpPr>
        <p:spPr>
          <a:xfrm rot="3969514">
            <a:off x="824819" y="241433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8" name="Freeform 8"/>
          <p:cNvSpPr/>
          <p:nvPr/>
        </p:nvSpPr>
        <p:spPr>
          <a:xfrm>
            <a:off x="3726766" y="5834714"/>
            <a:ext cx="2410240" cy="1942392"/>
          </a:xfrm>
          <a:custGeom>
            <a:avLst/>
            <a:gdLst/>
            <a:ahLst/>
            <a:cxnLst/>
            <a:rect l="l" t="t" r="r" b="b"/>
            <a:pathLst>
              <a:path w="3625557" h="2841118">
                <a:moveTo>
                  <a:pt x="0" y="0"/>
                </a:moveTo>
                <a:lnTo>
                  <a:pt x="3625557" y="0"/>
                </a:lnTo>
                <a:lnTo>
                  <a:pt x="3625557" y="2841118"/>
                </a:lnTo>
                <a:lnTo>
                  <a:pt x="0" y="284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5" name="Google Shape;113;p15">
            <a:extLst>
              <a:ext uri="{FF2B5EF4-FFF2-40B4-BE49-F238E27FC236}">
                <a16:creationId xmlns:a16="http://schemas.microsoft.com/office/drawing/2014/main" id="{5F69E4DC-2620-BC58-18FD-23B3B69E8EE8}"/>
              </a:ext>
            </a:extLst>
          </p:cNvPr>
          <p:cNvSpPr txBox="1"/>
          <p:nvPr/>
        </p:nvSpPr>
        <p:spPr>
          <a:xfrm>
            <a:off x="404803" y="117842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Algorithms: Learning &amp; Planning</a:t>
            </a:r>
            <a:endParaRPr dirty="0"/>
          </a:p>
        </p:txBody>
      </p:sp>
      <p:pic>
        <p:nvPicPr>
          <p:cNvPr id="29" name="Google Shape;85;p13" descr="image.png">
            <a:extLst>
              <a:ext uri="{FF2B5EF4-FFF2-40B4-BE49-F238E27FC236}">
                <a16:creationId xmlns:a16="http://schemas.microsoft.com/office/drawing/2014/main" id="{800E1ACC-1C6B-8EF7-5663-0A54477E977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2060" y="4968507"/>
            <a:ext cx="1486913" cy="583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9;p13" descr="image.png">
            <a:extLst>
              <a:ext uri="{FF2B5EF4-FFF2-40B4-BE49-F238E27FC236}">
                <a16:creationId xmlns:a16="http://schemas.microsoft.com/office/drawing/2014/main" id="{D2E775A1-FB09-EB9D-0D6C-3FA0327FC47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83254" y="4968507"/>
            <a:ext cx="1924050" cy="102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90;p13" descr="image.png">
            <a:extLst>
              <a:ext uri="{FF2B5EF4-FFF2-40B4-BE49-F238E27FC236}">
                <a16:creationId xmlns:a16="http://schemas.microsoft.com/office/drawing/2014/main" id="{618C19EB-C756-481A-6216-E5FCC38A551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93518" y="2152297"/>
            <a:ext cx="2601510" cy="277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91;p13" descr="image.png">
            <a:extLst>
              <a:ext uri="{FF2B5EF4-FFF2-40B4-BE49-F238E27FC236}">
                <a16:creationId xmlns:a16="http://schemas.microsoft.com/office/drawing/2014/main" id="{E9D9E0C1-1152-9A49-5473-C743D6478A6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083052" y="5027516"/>
            <a:ext cx="1076645" cy="61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94;p13" descr="image.png">
            <a:extLst>
              <a:ext uri="{FF2B5EF4-FFF2-40B4-BE49-F238E27FC236}">
                <a16:creationId xmlns:a16="http://schemas.microsoft.com/office/drawing/2014/main" id="{B254389A-E532-D42B-4C50-1C7168B9E42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87316" y="5086498"/>
            <a:ext cx="152578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95;p13" descr="image.png">
            <a:extLst>
              <a:ext uri="{FF2B5EF4-FFF2-40B4-BE49-F238E27FC236}">
                <a16:creationId xmlns:a16="http://schemas.microsoft.com/office/drawing/2014/main" id="{36F11968-49A3-51B0-D23C-19A3DF18E2B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87316" y="5362723"/>
            <a:ext cx="152578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96;p13" descr="image.png">
            <a:extLst>
              <a:ext uri="{FF2B5EF4-FFF2-40B4-BE49-F238E27FC236}">
                <a16:creationId xmlns:a16="http://schemas.microsoft.com/office/drawing/2014/main" id="{C05FE54F-9345-E4B9-9FE6-AC6E82434F0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87316" y="5638948"/>
            <a:ext cx="152578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98;p13" descr="image.png">
            <a:extLst>
              <a:ext uri="{FF2B5EF4-FFF2-40B4-BE49-F238E27FC236}">
                <a16:creationId xmlns:a16="http://schemas.microsoft.com/office/drawing/2014/main" id="{E3632ED1-41B6-E9E9-1AE7-6997BBCAE67C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-476250" y="5048250"/>
            <a:ext cx="2667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03;p13" descr="image.png">
            <a:extLst>
              <a:ext uri="{FF2B5EF4-FFF2-40B4-BE49-F238E27FC236}">
                <a16:creationId xmlns:a16="http://schemas.microsoft.com/office/drawing/2014/main" id="{DAF82815-DC2E-BB15-4916-1C5E6F884CEC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027564" y="338503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06;p13">
            <a:extLst>
              <a:ext uri="{FF2B5EF4-FFF2-40B4-BE49-F238E27FC236}">
                <a16:creationId xmlns:a16="http://schemas.microsoft.com/office/drawing/2014/main" id="{CA665A82-E796-60AC-CA29-365E0C692161}"/>
              </a:ext>
            </a:extLst>
          </p:cNvPr>
          <p:cNvSpPr txBox="1"/>
          <p:nvPr/>
        </p:nvSpPr>
        <p:spPr>
          <a:xfrm>
            <a:off x="902061" y="5068711"/>
            <a:ext cx="1366974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α = 0.1 - learning rate</a:t>
            </a:r>
            <a:br>
              <a:rPr lang="en-US"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 γ = 0.95 -discount factor</a:t>
            </a:r>
            <a:br>
              <a:rPr lang="en-US"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05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ε</a:t>
            </a: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=0.1 - greedy policy</a:t>
            </a:r>
            <a:endParaRPr sz="900" dirty="0"/>
          </a:p>
        </p:txBody>
      </p:sp>
      <p:sp>
        <p:nvSpPr>
          <p:cNvPr id="49" name="Google Shape;111;p13">
            <a:extLst>
              <a:ext uri="{FF2B5EF4-FFF2-40B4-BE49-F238E27FC236}">
                <a16:creationId xmlns:a16="http://schemas.microsoft.com/office/drawing/2014/main" id="{02D34309-1D0F-99EF-FBA2-F89BF5797DB7}"/>
              </a:ext>
            </a:extLst>
          </p:cNvPr>
          <p:cNvSpPr txBox="1"/>
          <p:nvPr/>
        </p:nvSpPr>
        <p:spPr>
          <a:xfrm>
            <a:off x="6531626" y="2313227"/>
            <a:ext cx="22031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Prioritized Sweeping</a:t>
            </a:r>
            <a:endParaRPr sz="1600" dirty="0"/>
          </a:p>
        </p:txBody>
      </p:sp>
      <p:sp>
        <p:nvSpPr>
          <p:cNvPr id="50" name="Google Shape;112;p13">
            <a:extLst>
              <a:ext uri="{FF2B5EF4-FFF2-40B4-BE49-F238E27FC236}">
                <a16:creationId xmlns:a16="http://schemas.microsoft.com/office/drawing/2014/main" id="{E11F0867-4528-727B-1BDB-02E740D386C3}"/>
              </a:ext>
            </a:extLst>
          </p:cNvPr>
          <p:cNvSpPr txBox="1"/>
          <p:nvPr/>
        </p:nvSpPr>
        <p:spPr>
          <a:xfrm>
            <a:off x="7083053" y="5376429"/>
            <a:ext cx="976908" cy="18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4971"/>
              </a:lnSpc>
            </a:pPr>
            <a:r>
              <a:rPr lang="en-US" sz="900" b="1" dirty="0">
                <a:solidFill>
                  <a:srgbClr val="083D61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l-GR" sz="900" b="1" dirty="0">
                <a:solidFill>
                  <a:srgbClr val="083D61"/>
                </a:solidFill>
                <a:latin typeface="DM Sans"/>
                <a:ea typeface="DM Sans"/>
                <a:cs typeface="DM Sans"/>
                <a:sym typeface="DM Sans"/>
              </a:rPr>
              <a:t>δ) </a:t>
            </a:r>
            <a:r>
              <a:rPr lang="en-US" sz="900" b="1" dirty="0">
                <a:solidFill>
                  <a:srgbClr val="083D61"/>
                </a:solidFill>
                <a:latin typeface="DM Sans"/>
                <a:ea typeface="DM Sans"/>
                <a:cs typeface="DM Sans"/>
                <a:sym typeface="DM Sans"/>
              </a:rPr>
              <a:t>= </a:t>
            </a:r>
            <a:r>
              <a:rPr lang="en-US" sz="900" b="1" i="0" u="none" strike="noStrike" cap="none" dirty="0">
                <a:solidFill>
                  <a:srgbClr val="083D61"/>
                </a:solidFill>
                <a:latin typeface="DM Sans"/>
                <a:ea typeface="DM Sans"/>
                <a:cs typeface="DM Sans"/>
                <a:sym typeface="DM Sans"/>
              </a:rPr>
              <a:t>TD Error</a:t>
            </a:r>
            <a:endParaRPr lang="el-GR" sz="900" dirty="0"/>
          </a:p>
        </p:txBody>
      </p:sp>
      <p:sp>
        <p:nvSpPr>
          <p:cNvPr id="61" name="Google Shape;125;p13">
            <a:extLst>
              <a:ext uri="{FF2B5EF4-FFF2-40B4-BE49-F238E27FC236}">
                <a16:creationId xmlns:a16="http://schemas.microsoft.com/office/drawing/2014/main" id="{10D85E57-4661-A7D9-0DED-B10B1DA02E93}"/>
              </a:ext>
            </a:extLst>
          </p:cNvPr>
          <p:cNvSpPr txBox="1"/>
          <p:nvPr/>
        </p:nvSpPr>
        <p:spPr>
          <a:xfrm>
            <a:off x="10616871" y="5267473"/>
            <a:ext cx="6667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 dirty="0"/>
          </a:p>
        </p:txBody>
      </p:sp>
      <p:sp>
        <p:nvSpPr>
          <p:cNvPr id="62" name="Google Shape;126;p13">
            <a:extLst>
              <a:ext uri="{FF2B5EF4-FFF2-40B4-BE49-F238E27FC236}">
                <a16:creationId xmlns:a16="http://schemas.microsoft.com/office/drawing/2014/main" id="{9E24EE69-0C6A-4164-4767-6CF1B0C363D5}"/>
              </a:ext>
            </a:extLst>
          </p:cNvPr>
          <p:cNvSpPr txBox="1"/>
          <p:nvPr/>
        </p:nvSpPr>
        <p:spPr>
          <a:xfrm>
            <a:off x="10616871" y="5543698"/>
            <a:ext cx="66675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↓</a:t>
            </a:r>
            <a:endParaRPr dirty="0"/>
          </a:p>
        </p:txBody>
      </p:sp>
      <p:sp>
        <p:nvSpPr>
          <p:cNvPr id="63" name="Google Shape;127;p13">
            <a:extLst>
              <a:ext uri="{FF2B5EF4-FFF2-40B4-BE49-F238E27FC236}">
                <a16:creationId xmlns:a16="http://schemas.microsoft.com/office/drawing/2014/main" id="{01E9FC0C-7773-9B32-763A-10CB3C7AFBDC}"/>
              </a:ext>
            </a:extLst>
          </p:cNvPr>
          <p:cNvSpPr txBox="1"/>
          <p:nvPr/>
        </p:nvSpPr>
        <p:spPr>
          <a:xfrm>
            <a:off x="6727497" y="2765612"/>
            <a:ext cx="1811362" cy="165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100" b="0" i="0" u="none" strike="noStrike" cap="none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Replays the most important transitions</a:t>
            </a:r>
          </a:p>
          <a:p>
            <a:pPr marL="171450" marR="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100" b="0" i="0" u="none" strike="noStrike" cap="none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Priority based on TD error metric</a:t>
            </a:r>
          </a:p>
          <a:p>
            <a:pPr marL="171450" marR="0" lvl="0" indent="-1714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100" b="0" i="0" u="none" strike="noStrike" cap="none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Focuses computation dynamically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sz="1100" dirty="0"/>
          </a:p>
        </p:txBody>
      </p:sp>
      <p:pic>
        <p:nvPicPr>
          <p:cNvPr id="66" name="Google Shape;130;p13" descr="image.png">
            <a:extLst>
              <a:ext uri="{FF2B5EF4-FFF2-40B4-BE49-F238E27FC236}">
                <a16:creationId xmlns:a16="http://schemas.microsoft.com/office/drawing/2014/main" id="{56189BB8-D63F-23A6-341F-A51FEFC6FBCC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191957" y="5127828"/>
            <a:ext cx="809525" cy="15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90;p13" descr="image.png">
            <a:extLst>
              <a:ext uri="{FF2B5EF4-FFF2-40B4-BE49-F238E27FC236}">
                <a16:creationId xmlns:a16="http://schemas.microsoft.com/office/drawing/2014/main" id="{8FA127FA-4336-3D64-2945-30C480249E2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329007" y="2143076"/>
            <a:ext cx="2601510" cy="277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03;p13" descr="image.png">
            <a:extLst>
              <a:ext uri="{FF2B5EF4-FFF2-40B4-BE49-F238E27FC236}">
                <a16:creationId xmlns:a16="http://schemas.microsoft.com/office/drawing/2014/main" id="{BC89EC3C-BF2F-963B-37E4-F7EE5FCB1A6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993259" y="338503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111;p13">
            <a:extLst>
              <a:ext uri="{FF2B5EF4-FFF2-40B4-BE49-F238E27FC236}">
                <a16:creationId xmlns:a16="http://schemas.microsoft.com/office/drawing/2014/main" id="{8F83CC42-B378-CD3F-BB9E-C159860E6A28}"/>
              </a:ext>
            </a:extLst>
          </p:cNvPr>
          <p:cNvSpPr txBox="1"/>
          <p:nvPr/>
        </p:nvSpPr>
        <p:spPr>
          <a:xfrm>
            <a:off x="9528210" y="2305420"/>
            <a:ext cx="22031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6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Dyna-Q</a:t>
            </a:r>
            <a:endParaRPr lang="en-US" sz="1600" dirty="0"/>
          </a:p>
        </p:txBody>
      </p:sp>
      <p:sp>
        <p:nvSpPr>
          <p:cNvPr id="82" name="Google Shape;127;p13">
            <a:extLst>
              <a:ext uri="{FF2B5EF4-FFF2-40B4-BE49-F238E27FC236}">
                <a16:creationId xmlns:a16="http://schemas.microsoft.com/office/drawing/2014/main" id="{B6A50C2F-A514-4D50-E8C5-BA2530B1BB7A}"/>
              </a:ext>
            </a:extLst>
          </p:cNvPr>
          <p:cNvSpPr txBox="1"/>
          <p:nvPr/>
        </p:nvSpPr>
        <p:spPr>
          <a:xfrm>
            <a:off x="9762986" y="2756391"/>
            <a:ext cx="1811362" cy="118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Combines SARSA and Planning</a:t>
            </a:r>
            <a:endParaRPr lang="en-US" sz="1100"/>
          </a:p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Uses both real and simulated experience</a:t>
            </a:r>
            <a:endParaRPr lang="en-US" sz="1100"/>
          </a:p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Faster</a:t>
            </a:r>
            <a:endParaRPr sz="1100" dirty="0"/>
          </a:p>
        </p:txBody>
      </p:sp>
      <p:pic>
        <p:nvPicPr>
          <p:cNvPr id="83" name="Google Shape;90;p13" descr="image.png">
            <a:extLst>
              <a:ext uri="{FF2B5EF4-FFF2-40B4-BE49-F238E27FC236}">
                <a16:creationId xmlns:a16="http://schemas.microsoft.com/office/drawing/2014/main" id="{6EA1DCBE-2C12-1460-FA80-F8F49F5576C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92787" y="2129519"/>
            <a:ext cx="2601510" cy="277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103;p13" descr="image.png">
            <a:extLst>
              <a:ext uri="{FF2B5EF4-FFF2-40B4-BE49-F238E27FC236}">
                <a16:creationId xmlns:a16="http://schemas.microsoft.com/office/drawing/2014/main" id="{D86929A0-8CEF-3723-F587-426CEDF8EEC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992750" y="3362742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111;p13">
            <a:extLst>
              <a:ext uri="{FF2B5EF4-FFF2-40B4-BE49-F238E27FC236}">
                <a16:creationId xmlns:a16="http://schemas.microsoft.com/office/drawing/2014/main" id="{3F705ADD-69EC-E6C6-5967-DE59E9B35C08}"/>
              </a:ext>
            </a:extLst>
          </p:cNvPr>
          <p:cNvSpPr txBox="1"/>
          <p:nvPr/>
        </p:nvSpPr>
        <p:spPr>
          <a:xfrm>
            <a:off x="3491990" y="2291863"/>
            <a:ext cx="22031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6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Planning</a:t>
            </a:r>
            <a:endParaRPr lang="en-US" sz="1600" dirty="0"/>
          </a:p>
        </p:txBody>
      </p:sp>
      <p:sp>
        <p:nvSpPr>
          <p:cNvPr id="86" name="Google Shape;127;p13">
            <a:extLst>
              <a:ext uri="{FF2B5EF4-FFF2-40B4-BE49-F238E27FC236}">
                <a16:creationId xmlns:a16="http://schemas.microsoft.com/office/drawing/2014/main" id="{54E44CFD-13E4-527D-D64A-4BB71ACDD0EB}"/>
              </a:ext>
            </a:extLst>
          </p:cNvPr>
          <p:cNvSpPr txBox="1"/>
          <p:nvPr/>
        </p:nvSpPr>
        <p:spPr>
          <a:xfrm>
            <a:off x="3726766" y="2742834"/>
            <a:ext cx="1811362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Stores experienced transitions</a:t>
            </a:r>
          </a:p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Performs additional simulated updates</a:t>
            </a:r>
            <a:endParaRPr lang="en-US" sz="1100" dirty="0"/>
          </a:p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Improves sample efficiency</a:t>
            </a:r>
            <a:endParaRPr lang="en-US" sz="1100" dirty="0"/>
          </a:p>
        </p:txBody>
      </p:sp>
      <p:pic>
        <p:nvPicPr>
          <p:cNvPr id="92" name="Google Shape;90;p13" descr="image.png">
            <a:extLst>
              <a:ext uri="{FF2B5EF4-FFF2-40B4-BE49-F238E27FC236}">
                <a16:creationId xmlns:a16="http://schemas.microsoft.com/office/drawing/2014/main" id="{9C4868CC-7C64-6D00-5A2D-43BC22F0A3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2056" y="2120345"/>
            <a:ext cx="2601510" cy="27759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111;p13">
            <a:extLst>
              <a:ext uri="{FF2B5EF4-FFF2-40B4-BE49-F238E27FC236}">
                <a16:creationId xmlns:a16="http://schemas.microsoft.com/office/drawing/2014/main" id="{B6628239-4EF3-2FD3-E3B3-ABF83E7DB75A}"/>
              </a:ext>
            </a:extLst>
          </p:cNvPr>
          <p:cNvSpPr txBox="1"/>
          <p:nvPr/>
        </p:nvSpPr>
        <p:spPr>
          <a:xfrm>
            <a:off x="491259" y="2282689"/>
            <a:ext cx="220310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SARSA</a:t>
            </a:r>
            <a:endParaRPr lang="en-US" sz="1600" dirty="0"/>
          </a:p>
          <a:p>
            <a:pPr lvl="0" algn="ctr"/>
            <a:endParaRPr lang="en-US" sz="1600" dirty="0"/>
          </a:p>
        </p:txBody>
      </p:sp>
      <p:sp>
        <p:nvSpPr>
          <p:cNvPr id="94" name="Google Shape;127;p13">
            <a:extLst>
              <a:ext uri="{FF2B5EF4-FFF2-40B4-BE49-F238E27FC236}">
                <a16:creationId xmlns:a16="http://schemas.microsoft.com/office/drawing/2014/main" id="{955A272A-587B-AB23-89B4-B7B5C923BFCC}"/>
              </a:ext>
            </a:extLst>
          </p:cNvPr>
          <p:cNvSpPr txBox="1"/>
          <p:nvPr/>
        </p:nvSpPr>
        <p:spPr>
          <a:xfrm>
            <a:off x="726035" y="2733660"/>
            <a:ext cx="1811362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Core RL algorithm</a:t>
            </a:r>
            <a:endParaRPr lang="en-US" sz="1100" dirty="0"/>
          </a:p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Learns directly from real interactions</a:t>
            </a:r>
            <a:endParaRPr lang="en-US" sz="1100" dirty="0"/>
          </a:p>
          <a:p>
            <a:pPr marL="171450" lvl="0" indent="-171450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E2F1FC"/>
                </a:solidFill>
                <a:latin typeface="DM Sans"/>
                <a:ea typeface="DM Sans"/>
                <a:cs typeface="DM Sans"/>
                <a:sym typeface="DM Sans"/>
              </a:rPr>
              <a:t>Updates the Q-table after every step using bootstrap</a:t>
            </a:r>
            <a:endParaRPr lang="en-US" sz="1100" dirty="0"/>
          </a:p>
        </p:txBody>
      </p:sp>
      <p:pic>
        <p:nvPicPr>
          <p:cNvPr id="95" name="Google Shape;89;p13" descr="image.png">
            <a:extLst>
              <a:ext uri="{FF2B5EF4-FFF2-40B4-BE49-F238E27FC236}">
                <a16:creationId xmlns:a16="http://schemas.microsoft.com/office/drawing/2014/main" id="{946A1D52-B261-0A61-413D-D8C4999FB3C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2685" t="71212" r="11717" b="22140"/>
          <a:stretch>
            <a:fillRect/>
          </a:stretch>
        </p:blipFill>
        <p:spPr>
          <a:xfrm>
            <a:off x="389506" y="4367464"/>
            <a:ext cx="2470486" cy="201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118;p13" descr="image.png">
            <a:extLst>
              <a:ext uri="{FF2B5EF4-FFF2-40B4-BE49-F238E27FC236}">
                <a16:creationId xmlns:a16="http://schemas.microsoft.com/office/drawing/2014/main" id="{B15DCD8D-215E-EFEC-DE33-7052A518B5F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47000" y="4397107"/>
            <a:ext cx="2287279" cy="10603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Freeform 6">
            <a:extLst>
              <a:ext uri="{FF2B5EF4-FFF2-40B4-BE49-F238E27FC236}">
                <a16:creationId xmlns:a16="http://schemas.microsoft.com/office/drawing/2014/main" id="{43A4CACA-E8C9-7DD1-51B0-991A5656BCDC}"/>
              </a:ext>
            </a:extLst>
          </p:cNvPr>
          <p:cNvSpPr/>
          <p:nvPr/>
        </p:nvSpPr>
        <p:spPr>
          <a:xfrm rot="3969514">
            <a:off x="9083540" y="6084772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98" name="Google Shape;85;p13" descr="image.png">
            <a:extLst>
              <a:ext uri="{FF2B5EF4-FFF2-40B4-BE49-F238E27FC236}">
                <a16:creationId xmlns:a16="http://schemas.microsoft.com/office/drawing/2014/main" id="{D0D69FA4-A38D-F2BD-FED4-6325A05B58A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03337" y="5074346"/>
            <a:ext cx="1486913" cy="27015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109;p13">
            <a:extLst>
              <a:ext uri="{FF2B5EF4-FFF2-40B4-BE49-F238E27FC236}">
                <a16:creationId xmlns:a16="http://schemas.microsoft.com/office/drawing/2014/main" id="{8E578178-AD3D-D92D-AE44-14C2DEBB54C8}"/>
              </a:ext>
            </a:extLst>
          </p:cNvPr>
          <p:cNvSpPr txBox="1"/>
          <p:nvPr/>
        </p:nvSpPr>
        <p:spPr>
          <a:xfrm>
            <a:off x="3910022" y="5127413"/>
            <a:ext cx="12382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526B7A"/>
                </a:solidFill>
                <a:latin typeface="Merriweather"/>
                <a:ea typeface="Merriweather"/>
                <a:cs typeface="Merriweather"/>
                <a:sym typeface="Merriweather"/>
              </a:rPr>
              <a:t>Planning Steps = 5</a:t>
            </a:r>
            <a:endParaRPr dirty="0">
              <a:solidFill>
                <a:srgbClr val="526B7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8981" flipH="1">
            <a:off x="8620894" y="-171643"/>
            <a:ext cx="4156963" cy="2320341"/>
          </a:xfrm>
          <a:custGeom>
            <a:avLst/>
            <a:gdLst/>
            <a:ahLst/>
            <a:cxnLst/>
            <a:rect l="l" t="t" r="r" b="b"/>
            <a:pathLst>
              <a:path w="6235444" h="3480512">
                <a:moveTo>
                  <a:pt x="6235444" y="0"/>
                </a:moveTo>
                <a:lnTo>
                  <a:pt x="0" y="0"/>
                </a:lnTo>
                <a:lnTo>
                  <a:pt x="0" y="3480512"/>
                </a:lnTo>
                <a:lnTo>
                  <a:pt x="6235444" y="3480512"/>
                </a:lnTo>
                <a:lnTo>
                  <a:pt x="62354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5"/>
          <p:cNvSpPr/>
          <p:nvPr/>
        </p:nvSpPr>
        <p:spPr>
          <a:xfrm rot="-1214190">
            <a:off x="8462577" y="337171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6" name="Freeform 6"/>
          <p:cNvSpPr/>
          <p:nvPr/>
        </p:nvSpPr>
        <p:spPr>
          <a:xfrm rot="3969514">
            <a:off x="2250312" y="168286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11" name="Google Shape;129;p16" descr="image.png">
            <a:extLst>
              <a:ext uri="{FF2B5EF4-FFF2-40B4-BE49-F238E27FC236}">
                <a16:creationId xmlns:a16="http://schemas.microsoft.com/office/drawing/2014/main" id="{6AD92FAE-5D04-12FE-2FAD-CD16AE8AB9C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6878" y="2560574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0;p16" descr="image.png">
            <a:extLst>
              <a:ext uri="{FF2B5EF4-FFF2-40B4-BE49-F238E27FC236}">
                <a16:creationId xmlns:a16="http://schemas.microsoft.com/office/drawing/2014/main" id="{1A6D5B37-AF67-9CBD-CF1B-566B0396F3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61283"/>
            <a:ext cx="5334000" cy="85739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1;p16">
            <a:extLst>
              <a:ext uri="{FF2B5EF4-FFF2-40B4-BE49-F238E27FC236}">
                <a16:creationId xmlns:a16="http://schemas.microsoft.com/office/drawing/2014/main" id="{8E902120-B8A1-2380-52B8-9FFFA368E166}"/>
              </a:ext>
            </a:extLst>
          </p:cNvPr>
          <p:cNvSpPr txBox="1"/>
          <p:nvPr/>
        </p:nvSpPr>
        <p:spPr>
          <a:xfrm>
            <a:off x="571500" y="950862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Geometrical Kernel K(s, s')</a:t>
            </a:r>
            <a:endParaRPr dirty="0"/>
          </a:p>
        </p:txBody>
      </p:sp>
      <p:sp>
        <p:nvSpPr>
          <p:cNvPr id="14" name="Google Shape;133;p16">
            <a:extLst>
              <a:ext uri="{FF2B5EF4-FFF2-40B4-BE49-F238E27FC236}">
                <a16:creationId xmlns:a16="http://schemas.microsoft.com/office/drawing/2014/main" id="{C1C63EB8-C31E-F244-94E4-30599C45EC4F}"/>
              </a:ext>
            </a:extLst>
          </p:cNvPr>
          <p:cNvSpPr txBox="1"/>
          <p:nvPr/>
        </p:nvSpPr>
        <p:spPr>
          <a:xfrm>
            <a:off x="571500" y="2637383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To overcome the limitations of tabular independence, we inject a </a:t>
            </a:r>
            <a:r>
              <a:rPr lang="en-US" sz="1500" b="1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Continuous Generalization Kernel</a:t>
            </a:r>
            <a:r>
              <a:rPr lang="en-US" sz="15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</p:txBody>
      </p:sp>
      <p:pic>
        <p:nvPicPr>
          <p:cNvPr id="15" name="Google Shape;135;p16" descr="image.png">
            <a:extLst>
              <a:ext uri="{FF2B5EF4-FFF2-40B4-BE49-F238E27FC236}">
                <a16:creationId xmlns:a16="http://schemas.microsoft.com/office/drawing/2014/main" id="{A322E8E6-7D36-44F8-560F-E3EC5482FE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551783"/>
            <a:ext cx="4857750" cy="47639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36;p16">
            <a:extLst>
              <a:ext uri="{FF2B5EF4-FFF2-40B4-BE49-F238E27FC236}">
                <a16:creationId xmlns:a16="http://schemas.microsoft.com/office/drawing/2014/main" id="{D9668C67-5665-6B39-DE18-DA6C5F22957B}"/>
              </a:ext>
            </a:extLst>
          </p:cNvPr>
          <p:cNvSpPr txBox="1"/>
          <p:nvPr/>
        </p:nvSpPr>
        <p:spPr>
          <a:xfrm>
            <a:off x="904875" y="4409182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Reasoning: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Spatially adjacent states in the same sub-task should share value updates.</a:t>
            </a:r>
            <a:endParaRPr dirty="0"/>
          </a:p>
        </p:txBody>
      </p:sp>
      <p:sp>
        <p:nvSpPr>
          <p:cNvPr id="17" name="Google Shape;137;p16">
            <a:extLst>
              <a:ext uri="{FF2B5EF4-FFF2-40B4-BE49-F238E27FC236}">
                <a16:creationId xmlns:a16="http://schemas.microsoft.com/office/drawing/2014/main" id="{1C3F032C-6EAA-9D47-9999-06709E3538A6}"/>
              </a:ext>
            </a:extLst>
          </p:cNvPr>
          <p:cNvSpPr txBox="1"/>
          <p:nvPr/>
        </p:nvSpPr>
        <p:spPr>
          <a:xfrm>
            <a:off x="904875" y="5085457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Effect: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Contracts the 500-state matrix into unified local "patches".</a:t>
            </a:r>
            <a:endParaRPr dirty="0"/>
          </a:p>
        </p:txBody>
      </p:sp>
      <p:pic>
        <p:nvPicPr>
          <p:cNvPr id="18" name="Google Shape;138;p16" descr="image.png">
            <a:extLst>
              <a:ext uri="{FF2B5EF4-FFF2-40B4-BE49-F238E27FC236}">
                <a16:creationId xmlns:a16="http://schemas.microsoft.com/office/drawing/2014/main" id="{23E633FC-9568-5235-432F-35F58F6FF04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40918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39;p16" descr="image.png">
            <a:extLst>
              <a:ext uri="{FF2B5EF4-FFF2-40B4-BE49-F238E27FC236}">
                <a16:creationId xmlns:a16="http://schemas.microsoft.com/office/drawing/2014/main" id="{15B567EA-D0EC-D414-95E3-BA6AB86404F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8545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תמונה 2">
            <a:extLst>
              <a:ext uri="{FF2B5EF4-FFF2-40B4-BE49-F238E27FC236}">
                <a16:creationId xmlns:a16="http://schemas.microsoft.com/office/drawing/2014/main" id="{EECEC7BD-9E98-D76B-B9B6-A3FD80CC8E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2912" y="2665491"/>
            <a:ext cx="5037588" cy="3600166"/>
          </a:xfrm>
          <a:prstGeom prst="rect">
            <a:avLst/>
          </a:prstGeom>
        </p:spPr>
      </p:pic>
      <p:sp>
        <p:nvSpPr>
          <p:cNvPr id="21" name="Freeform 6">
            <a:extLst>
              <a:ext uri="{FF2B5EF4-FFF2-40B4-BE49-F238E27FC236}">
                <a16:creationId xmlns:a16="http://schemas.microsoft.com/office/drawing/2014/main" id="{104D8067-02C2-D31D-3381-579C0F8BA1AB}"/>
              </a:ext>
            </a:extLst>
          </p:cNvPr>
          <p:cNvSpPr/>
          <p:nvPr/>
        </p:nvSpPr>
        <p:spPr>
          <a:xfrm rot="3969514">
            <a:off x="650115" y="6141825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 dirty="0"/>
          </a:p>
        </p:txBody>
      </p:sp>
      <p:pic>
        <p:nvPicPr>
          <p:cNvPr id="2" name="Google Shape;85;p13" descr="image.png">
            <a:extLst>
              <a:ext uri="{FF2B5EF4-FFF2-40B4-BE49-F238E27FC236}">
                <a16:creationId xmlns:a16="http://schemas.microsoft.com/office/drawing/2014/main" id="{686D51A2-0BAD-0498-D8C0-0C297FED04A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49271" y="6134405"/>
            <a:ext cx="4353340" cy="58352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6;p13">
            <a:extLst>
              <a:ext uri="{FF2B5EF4-FFF2-40B4-BE49-F238E27FC236}">
                <a16:creationId xmlns:a16="http://schemas.microsoft.com/office/drawing/2014/main" id="{3B2AD682-8712-DC7B-686B-2852619097E6}"/>
              </a:ext>
            </a:extLst>
          </p:cNvPr>
          <p:cNvSpPr txBox="1"/>
          <p:nvPr/>
        </p:nvSpPr>
        <p:spPr>
          <a:xfrm>
            <a:off x="1812192" y="6228685"/>
            <a:ext cx="503758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β = 4.0 → Controls how quickly similarity decreases with distance.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c = 0.5 → Distance threshold where similarity begins to decay.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26B7A"/>
                </a:solidFill>
                <a:latin typeface="DM Sans"/>
                <a:ea typeface="DM Sans"/>
                <a:cs typeface="DM Sans"/>
                <a:sym typeface="DM Sans"/>
              </a:rPr>
              <a:t>k = 5 neighbors → Only the 5 nearest task-equivalent states receive updates.</a:t>
            </a:r>
            <a:endParaRPr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083">
            <a:off x="-1392683" y="-1532592"/>
            <a:ext cx="4156963" cy="2320341"/>
          </a:xfrm>
          <a:custGeom>
            <a:avLst/>
            <a:gdLst/>
            <a:ahLst/>
            <a:cxnLst/>
            <a:rect l="l" t="t" r="r" b="b"/>
            <a:pathLst>
              <a:path w="6235444" h="3480512">
                <a:moveTo>
                  <a:pt x="0" y="0"/>
                </a:moveTo>
                <a:lnTo>
                  <a:pt x="6235445" y="0"/>
                </a:lnTo>
                <a:lnTo>
                  <a:pt x="6235445" y="3480512"/>
                </a:lnTo>
                <a:lnTo>
                  <a:pt x="0" y="3480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/>
          <p:cNvSpPr/>
          <p:nvPr/>
        </p:nvSpPr>
        <p:spPr>
          <a:xfrm rot="-2227017">
            <a:off x="-877376" y="5406922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5"/>
          <p:cNvSpPr/>
          <p:nvPr/>
        </p:nvSpPr>
        <p:spPr>
          <a:xfrm rot="-1214190">
            <a:off x="8953153" y="5244617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6" name="Freeform 6"/>
          <p:cNvSpPr/>
          <p:nvPr/>
        </p:nvSpPr>
        <p:spPr>
          <a:xfrm rot="3969514">
            <a:off x="830302" y="2443775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/>
          <p:cNvSpPr/>
          <p:nvPr/>
        </p:nvSpPr>
        <p:spPr>
          <a:xfrm>
            <a:off x="8807603" y="527961"/>
            <a:ext cx="2277995" cy="2428095"/>
          </a:xfrm>
          <a:custGeom>
            <a:avLst/>
            <a:gdLst/>
            <a:ahLst/>
            <a:cxnLst/>
            <a:rect l="l" t="t" r="r" b="b"/>
            <a:pathLst>
              <a:path w="3416993" h="3642143">
                <a:moveTo>
                  <a:pt x="0" y="0"/>
                </a:moveTo>
                <a:lnTo>
                  <a:pt x="3416993" y="0"/>
                </a:lnTo>
                <a:lnTo>
                  <a:pt x="3416993" y="3642144"/>
                </a:lnTo>
                <a:lnTo>
                  <a:pt x="0" y="3642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11" name="Google Shape;145;p17" descr="image.png">
            <a:extLst>
              <a:ext uri="{FF2B5EF4-FFF2-40B4-BE49-F238E27FC236}">
                <a16:creationId xmlns:a16="http://schemas.microsoft.com/office/drawing/2014/main" id="{3F61D883-E1EC-DC77-200C-2E7505792D6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5166419"/>
            <a:ext cx="2730549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46;p17" descr="image.png">
            <a:extLst>
              <a:ext uri="{FF2B5EF4-FFF2-40B4-BE49-F238E27FC236}">
                <a16:creationId xmlns:a16="http://schemas.microsoft.com/office/drawing/2014/main" id="{1EBE8886-1535-E1D8-B836-DC535B7D5F2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799" y="5166419"/>
            <a:ext cx="2730549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7;p17" descr="image.png">
            <a:extLst>
              <a:ext uri="{FF2B5EF4-FFF2-40B4-BE49-F238E27FC236}">
                <a16:creationId xmlns:a16="http://schemas.microsoft.com/office/drawing/2014/main" id="{8879CD33-D7A9-FA1E-B12A-9157DDFC52F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51849" y="5166419"/>
            <a:ext cx="2730549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8;p17">
            <a:extLst>
              <a:ext uri="{FF2B5EF4-FFF2-40B4-BE49-F238E27FC236}">
                <a16:creationId xmlns:a16="http://schemas.microsoft.com/office/drawing/2014/main" id="{9521F1A7-461B-FB16-EE00-C004A615549D}"/>
              </a:ext>
            </a:extLst>
          </p:cNvPr>
          <p:cNvSpPr txBox="1"/>
          <p:nvPr/>
        </p:nvSpPr>
        <p:spPr>
          <a:xfrm>
            <a:off x="590550" y="1154084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Reward 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Design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Intuition</a:t>
            </a:r>
            <a:endParaRPr dirty="0"/>
          </a:p>
        </p:txBody>
      </p:sp>
      <p:pic>
        <p:nvPicPr>
          <p:cNvPr id="15" name="Google Shape;150;p17" descr="image.png">
            <a:extLst>
              <a:ext uri="{FF2B5EF4-FFF2-40B4-BE49-F238E27FC236}">
                <a16:creationId xmlns:a16="http://schemas.microsoft.com/office/drawing/2014/main" id="{72E7A161-1347-6066-0074-0585F8D653E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2070794"/>
            <a:ext cx="857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51;p17">
            <a:extLst>
              <a:ext uri="{FF2B5EF4-FFF2-40B4-BE49-F238E27FC236}">
                <a16:creationId xmlns:a16="http://schemas.microsoft.com/office/drawing/2014/main" id="{7BF84311-DDE6-48BF-38A8-DE4A8DE91EB0}"/>
              </a:ext>
            </a:extLst>
          </p:cNvPr>
          <p:cNvSpPr txBox="1"/>
          <p:nvPr/>
        </p:nvSpPr>
        <p:spPr>
          <a:xfrm>
            <a:off x="1654160" y="3179563"/>
            <a:ext cx="9001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Why Design Custom Rewards?</a:t>
            </a:r>
            <a:endParaRPr dirty="0"/>
          </a:p>
        </p:txBody>
      </p:sp>
      <p:sp>
        <p:nvSpPr>
          <p:cNvPr id="17" name="Google Shape;152;p17">
            <a:extLst>
              <a:ext uri="{FF2B5EF4-FFF2-40B4-BE49-F238E27FC236}">
                <a16:creationId xmlns:a16="http://schemas.microsoft.com/office/drawing/2014/main" id="{22EFCF5A-1452-7B3A-FAEF-4C43DDDF18E4}"/>
              </a:ext>
            </a:extLst>
          </p:cNvPr>
          <p:cNvSpPr txBox="1"/>
          <p:nvPr/>
        </p:nvSpPr>
        <p:spPr>
          <a:xfrm>
            <a:off x="1809750" y="3869232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goal was to test the agent's robustness by </a:t>
            </a:r>
            <a:r>
              <a:rPr lang="en-US" sz="1500" b="1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completely replacing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the environment's native feedback. We moved from "What the goal is" to "How the agent should feel" while navigating.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083">
            <a:off x="-1494053" y="4584399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/>
          <p:cNvSpPr/>
          <p:nvPr/>
        </p:nvSpPr>
        <p:spPr>
          <a:xfrm rot="-2227017">
            <a:off x="-283363" y="505710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/>
          <p:cNvSpPr/>
          <p:nvPr/>
        </p:nvSpPr>
        <p:spPr>
          <a:xfrm rot="-2227017">
            <a:off x="8903199" y="530416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8" name="Freeform 8"/>
          <p:cNvSpPr/>
          <p:nvPr/>
        </p:nvSpPr>
        <p:spPr>
          <a:xfrm rot="3969514">
            <a:off x="1653078" y="1442844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10" name="Google Shape;151;p18" descr="image.png">
            <a:extLst>
              <a:ext uri="{FF2B5EF4-FFF2-40B4-BE49-F238E27FC236}">
                <a16:creationId xmlns:a16="http://schemas.microsoft.com/office/drawing/2014/main" id="{8C4D701C-6404-B4BC-5872-ADA7BA590602}"/>
              </a:ext>
            </a:extLst>
          </p:cNvPr>
          <p:cNvPicPr preferRelativeResize="0"/>
          <p:nvPr/>
        </p:nvPicPr>
        <p:blipFill rotWithShape="1"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71500" y="2414587"/>
            <a:ext cx="5238750" cy="295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52;p18" descr="image.png">
            <a:extLst>
              <a:ext uri="{FF2B5EF4-FFF2-40B4-BE49-F238E27FC236}">
                <a16:creationId xmlns:a16="http://schemas.microsoft.com/office/drawing/2014/main" id="{BFAF13FC-E8B3-472A-5E5A-77B776EF2BA1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381750" y="2414587"/>
            <a:ext cx="5238750" cy="295840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53;p18">
            <a:extLst>
              <a:ext uri="{FF2B5EF4-FFF2-40B4-BE49-F238E27FC236}">
                <a16:creationId xmlns:a16="http://schemas.microsoft.com/office/drawing/2014/main" id="{ECD1F288-CDD1-D790-4AFE-37C83FAB3C48}"/>
              </a:ext>
            </a:extLst>
          </p:cNvPr>
          <p:cNvSpPr txBox="1"/>
          <p:nvPr/>
        </p:nvSpPr>
        <p:spPr>
          <a:xfrm>
            <a:off x="571500" y="571500"/>
            <a:ext cx="11601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Environment Feedback Defines The Baseline</a:t>
            </a:r>
            <a:endParaRPr sz="3200" dirty="0"/>
          </a:p>
        </p:txBody>
      </p:sp>
      <p:sp>
        <p:nvSpPr>
          <p:cNvPr id="13" name="Google Shape;155;p18">
            <a:extLst>
              <a:ext uri="{FF2B5EF4-FFF2-40B4-BE49-F238E27FC236}">
                <a16:creationId xmlns:a16="http://schemas.microsoft.com/office/drawing/2014/main" id="{379C7ACA-448E-2B46-8E96-517A6BA7D6CD}"/>
              </a:ext>
            </a:extLst>
          </p:cNvPr>
          <p:cNvSpPr txBox="1"/>
          <p:nvPr/>
        </p:nvSpPr>
        <p:spPr>
          <a:xfrm>
            <a:off x="962025" y="2805112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A69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Base Reward (Native)</a:t>
            </a:r>
            <a:endParaRPr dirty="0"/>
          </a:p>
        </p:txBody>
      </p:sp>
      <p:sp>
        <p:nvSpPr>
          <p:cNvPr id="14" name="Google Shape;156;p18">
            <a:extLst>
              <a:ext uri="{FF2B5EF4-FFF2-40B4-BE49-F238E27FC236}">
                <a16:creationId xmlns:a16="http://schemas.microsoft.com/office/drawing/2014/main" id="{B4DB8C91-C100-0881-3200-5376CE17F0AF}"/>
              </a:ext>
            </a:extLst>
          </p:cNvPr>
          <p:cNvSpPr txBox="1"/>
          <p:nvPr/>
        </p:nvSpPr>
        <p:spPr>
          <a:xfrm>
            <a:off x="962025" y="326796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standard benchmark utilized to calibrate our MBRL implementation against native Gym results.</a:t>
            </a:r>
            <a:endParaRPr dirty="0"/>
          </a:p>
        </p:txBody>
      </p:sp>
      <p:sp>
        <p:nvSpPr>
          <p:cNvPr id="15" name="Google Shape;157;p18">
            <a:extLst>
              <a:ext uri="{FF2B5EF4-FFF2-40B4-BE49-F238E27FC236}">
                <a16:creationId xmlns:a16="http://schemas.microsoft.com/office/drawing/2014/main" id="{39BE23F6-9DEB-CD33-7140-D1B0A6162A8D}"/>
              </a:ext>
            </a:extLst>
          </p:cNvPr>
          <p:cNvSpPr txBox="1"/>
          <p:nvPr/>
        </p:nvSpPr>
        <p:spPr>
          <a:xfrm>
            <a:off x="6772275" y="2717452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A69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Sparse Reward (Stress)</a:t>
            </a:r>
            <a:endParaRPr dirty="0"/>
          </a:p>
        </p:txBody>
      </p:sp>
      <p:sp>
        <p:nvSpPr>
          <p:cNvPr id="16" name="Google Shape;158;p18">
            <a:extLst>
              <a:ext uri="{FF2B5EF4-FFF2-40B4-BE49-F238E27FC236}">
                <a16:creationId xmlns:a16="http://schemas.microsoft.com/office/drawing/2014/main" id="{29A2047C-DD02-8525-2696-1EC4CB30E1AD}"/>
              </a:ext>
            </a:extLst>
          </p:cNvPr>
          <p:cNvSpPr txBox="1"/>
          <p:nvPr/>
        </p:nvSpPr>
        <p:spPr>
          <a:xfrm>
            <a:off x="6883717" y="3067942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Tests the agent's ability to learn with near-zero feedback until completion.</a:t>
            </a:r>
            <a:endParaRPr dirty="0"/>
          </a:p>
        </p:txBody>
      </p:sp>
      <p:sp>
        <p:nvSpPr>
          <p:cNvPr id="17" name="Google Shape;159;p18">
            <a:extLst>
              <a:ext uri="{FF2B5EF4-FFF2-40B4-BE49-F238E27FC236}">
                <a16:creationId xmlns:a16="http://schemas.microsoft.com/office/drawing/2014/main" id="{16136461-13AC-C7B0-E559-1F26BFB002EB}"/>
              </a:ext>
            </a:extLst>
          </p:cNvPr>
          <p:cNvSpPr txBox="1"/>
          <p:nvPr/>
        </p:nvSpPr>
        <p:spPr>
          <a:xfrm>
            <a:off x="847725" y="406806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" name="Google Shape;160;p18">
            <a:extLst>
              <a:ext uri="{FF2B5EF4-FFF2-40B4-BE49-F238E27FC236}">
                <a16:creationId xmlns:a16="http://schemas.microsoft.com/office/drawing/2014/main" id="{63B88CB5-8A29-BC5D-88AE-486087BCAF67}"/>
              </a:ext>
            </a:extLst>
          </p:cNvPr>
          <p:cNvSpPr txBox="1"/>
          <p:nvPr/>
        </p:nvSpPr>
        <p:spPr>
          <a:xfrm>
            <a:off x="962025" y="4068067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+20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successful drop-off.</a:t>
            </a:r>
            <a:endParaRPr dirty="0"/>
          </a:p>
        </p:txBody>
      </p:sp>
      <p:sp>
        <p:nvSpPr>
          <p:cNvPr id="19" name="Google Shape;161;p18">
            <a:extLst>
              <a:ext uri="{FF2B5EF4-FFF2-40B4-BE49-F238E27FC236}">
                <a16:creationId xmlns:a16="http://schemas.microsoft.com/office/drawing/2014/main" id="{675D4CFB-96DA-09A9-81E2-26FF5508FD9C}"/>
              </a:ext>
            </a:extLst>
          </p:cNvPr>
          <p:cNvSpPr txBox="1"/>
          <p:nvPr/>
        </p:nvSpPr>
        <p:spPr>
          <a:xfrm>
            <a:off x="847725" y="437286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" name="Google Shape;162;p18">
            <a:extLst>
              <a:ext uri="{FF2B5EF4-FFF2-40B4-BE49-F238E27FC236}">
                <a16:creationId xmlns:a16="http://schemas.microsoft.com/office/drawing/2014/main" id="{0E0CA895-9D6D-AD71-0201-8DE56FB9CA24}"/>
              </a:ext>
            </a:extLst>
          </p:cNvPr>
          <p:cNvSpPr txBox="1"/>
          <p:nvPr/>
        </p:nvSpPr>
        <p:spPr>
          <a:xfrm>
            <a:off x="962025" y="4372867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 active time step.</a:t>
            </a:r>
            <a:endParaRPr dirty="0"/>
          </a:p>
        </p:txBody>
      </p:sp>
      <p:sp>
        <p:nvSpPr>
          <p:cNvPr id="21" name="Google Shape;163;p18">
            <a:extLst>
              <a:ext uri="{FF2B5EF4-FFF2-40B4-BE49-F238E27FC236}">
                <a16:creationId xmlns:a16="http://schemas.microsoft.com/office/drawing/2014/main" id="{3A59CF09-E07C-42A9-20EC-3B7025151036}"/>
              </a:ext>
            </a:extLst>
          </p:cNvPr>
          <p:cNvSpPr txBox="1"/>
          <p:nvPr/>
        </p:nvSpPr>
        <p:spPr>
          <a:xfrm>
            <a:off x="847725" y="467766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" name="Google Shape;164;p18">
            <a:extLst>
              <a:ext uri="{FF2B5EF4-FFF2-40B4-BE49-F238E27FC236}">
                <a16:creationId xmlns:a16="http://schemas.microsoft.com/office/drawing/2014/main" id="{737C1B07-1F19-30A4-7787-EF7529AB5625}"/>
              </a:ext>
            </a:extLst>
          </p:cNvPr>
          <p:cNvSpPr txBox="1"/>
          <p:nvPr/>
        </p:nvSpPr>
        <p:spPr>
          <a:xfrm>
            <a:off x="962025" y="4677667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-10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illegal actions .</a:t>
            </a:r>
            <a:endParaRPr dirty="0"/>
          </a:p>
        </p:txBody>
      </p:sp>
      <p:sp>
        <p:nvSpPr>
          <p:cNvPr id="23" name="Google Shape;165;p18">
            <a:extLst>
              <a:ext uri="{FF2B5EF4-FFF2-40B4-BE49-F238E27FC236}">
                <a16:creationId xmlns:a16="http://schemas.microsoft.com/office/drawing/2014/main" id="{DCA0C4A2-7AD2-1E9C-2ACE-B9090A4C46CE}"/>
              </a:ext>
            </a:extLst>
          </p:cNvPr>
          <p:cNvSpPr txBox="1"/>
          <p:nvPr/>
        </p:nvSpPr>
        <p:spPr>
          <a:xfrm>
            <a:off x="6634671" y="389378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4" name="Google Shape;166;p18">
            <a:extLst>
              <a:ext uri="{FF2B5EF4-FFF2-40B4-BE49-F238E27FC236}">
                <a16:creationId xmlns:a16="http://schemas.microsoft.com/office/drawing/2014/main" id="{C0BDE050-FA53-6772-FC14-794BB225F5D1}"/>
              </a:ext>
            </a:extLst>
          </p:cNvPr>
          <p:cNvSpPr txBox="1"/>
          <p:nvPr/>
        </p:nvSpPr>
        <p:spPr>
          <a:xfrm>
            <a:off x="6883717" y="3789432"/>
            <a:ext cx="4457700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+0.5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successful drop-off.</a:t>
            </a:r>
          </a:p>
          <a:p>
            <a:pPr lvl="0">
              <a:lnSpc>
                <a:spcPct val="160000"/>
              </a:lnSpc>
            </a:pPr>
            <a:r>
              <a:rPr lang="en-US" sz="16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+0.5</a:t>
            </a:r>
            <a:r>
              <a:rPr lang="en-US" sz="16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successful </a:t>
            </a:r>
            <a:r>
              <a:rPr lang="he-IL" sz="1600" dirty="0">
                <a:solidFill>
                  <a:schemeClr val="accent1">
                    <a:lumMod val="50000"/>
                  </a:schemeClr>
                </a:solidFill>
              </a:rPr>
              <a:t>pick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-</a:t>
            </a:r>
            <a:r>
              <a:rPr lang="he-IL" sz="1600" dirty="0">
                <a:solidFill>
                  <a:schemeClr val="accent1">
                    <a:lumMod val="50000"/>
                  </a:schemeClr>
                </a:solidFill>
              </a:rPr>
              <a:t>up</a:t>
            </a:r>
            <a:r>
              <a:rPr lang="he-IL" sz="1600" dirty="0"/>
              <a:t>.</a:t>
            </a:r>
            <a:endParaRPr lang="en-US" sz="1600" dirty="0"/>
          </a:p>
        </p:txBody>
      </p:sp>
      <p:sp>
        <p:nvSpPr>
          <p:cNvPr id="25" name="Google Shape;167;p18">
            <a:extLst>
              <a:ext uri="{FF2B5EF4-FFF2-40B4-BE49-F238E27FC236}">
                <a16:creationId xmlns:a16="http://schemas.microsoft.com/office/drawing/2014/main" id="{DEA6B61D-09F6-D494-DDF4-27EF2BC4964C}"/>
              </a:ext>
            </a:extLst>
          </p:cNvPr>
          <p:cNvSpPr txBox="1"/>
          <p:nvPr/>
        </p:nvSpPr>
        <p:spPr>
          <a:xfrm>
            <a:off x="6644894" y="424145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6" name="Google Shape;168;p18">
            <a:extLst>
              <a:ext uri="{FF2B5EF4-FFF2-40B4-BE49-F238E27FC236}">
                <a16:creationId xmlns:a16="http://schemas.microsoft.com/office/drawing/2014/main" id="{8734DCC4-9211-8AAA-14D7-DB78A963E806}"/>
              </a:ext>
            </a:extLst>
          </p:cNvPr>
          <p:cNvSpPr txBox="1"/>
          <p:nvPr/>
        </p:nvSpPr>
        <p:spPr>
          <a:xfrm>
            <a:off x="6772275" y="4518737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all intermediate states.</a:t>
            </a:r>
            <a:endParaRPr dirty="0"/>
          </a:p>
        </p:txBody>
      </p:sp>
      <p:sp>
        <p:nvSpPr>
          <p:cNvPr id="27" name="Google Shape;169;p18">
            <a:extLst>
              <a:ext uri="{FF2B5EF4-FFF2-40B4-BE49-F238E27FC236}">
                <a16:creationId xmlns:a16="http://schemas.microsoft.com/office/drawing/2014/main" id="{B66E4B5A-0B28-F03B-CFA7-3FC4204040D7}"/>
              </a:ext>
            </a:extLst>
          </p:cNvPr>
          <p:cNvSpPr txBox="1"/>
          <p:nvPr/>
        </p:nvSpPr>
        <p:spPr>
          <a:xfrm>
            <a:off x="6657975" y="465482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8" name="Google Shape;170;p18">
            <a:extLst>
              <a:ext uri="{FF2B5EF4-FFF2-40B4-BE49-F238E27FC236}">
                <a16:creationId xmlns:a16="http://schemas.microsoft.com/office/drawing/2014/main" id="{933F2F09-542F-4F0F-E756-5A1CBA7C7E3A}"/>
              </a:ext>
            </a:extLst>
          </p:cNvPr>
          <p:cNvSpPr txBox="1"/>
          <p:nvPr/>
        </p:nvSpPr>
        <p:spPr>
          <a:xfrm>
            <a:off x="6772275" y="4862333"/>
            <a:ext cx="44577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Forces reliance on exploration heuristics.</a:t>
            </a:r>
            <a:endParaRPr dirty="0"/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F97C5E00-3549-1E44-91A1-C9C1E97B328C}"/>
              </a:ext>
            </a:extLst>
          </p:cNvPr>
          <p:cNvSpPr/>
          <p:nvPr/>
        </p:nvSpPr>
        <p:spPr>
          <a:xfrm rot="21429709">
            <a:off x="9579940" y="881326"/>
            <a:ext cx="2739905" cy="1371018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76;p19" descr="image.png">
            <a:extLst>
              <a:ext uri="{FF2B5EF4-FFF2-40B4-BE49-F238E27FC236}">
                <a16:creationId xmlns:a16="http://schemas.microsoft.com/office/drawing/2014/main" id="{FA2F411C-F7D8-9D8B-A690-952485CD77D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191499" y="2622962"/>
            <a:ext cx="3410475" cy="3837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76;p19" descr="image.png">
            <a:extLst>
              <a:ext uri="{FF2B5EF4-FFF2-40B4-BE49-F238E27FC236}">
                <a16:creationId xmlns:a16="http://schemas.microsoft.com/office/drawing/2014/main" id="{6AD2DC94-61E0-14BE-6273-8B3733557BF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530721" y="2622962"/>
            <a:ext cx="3340112" cy="3837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2625" y="2790825"/>
            <a:ext cx="762000" cy="46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0" y="2790825"/>
            <a:ext cx="762000" cy="39067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4765833" y="3667273"/>
            <a:ext cx="26603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 Driving Reward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33927" y="4048739"/>
            <a:ext cx="29337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Heavily discourages inefficient behavior by increasing the penalty for illegal actions and introducing specific wall-collision costs.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77375" y="2790825"/>
            <a:ext cx="762000" cy="3906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8688228" y="3667273"/>
            <a:ext cx="234029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Progress Shaping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391525" y="4229248"/>
            <a:ext cx="29337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Provides continuous feedback using Manhattan Distance. Directs the agent step-by-step toward the passenger or destination.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81225" y="28732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43600" y="28336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4765834" y="5307080"/>
            <a:ext cx="2685163" cy="102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Illegal: -15 | Wall: -3                           </a:t>
            </a:r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+30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for successful drop-off</a:t>
            </a:r>
          </a:p>
          <a:p>
            <a:pPr lvl="0" algn="ctr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per active time step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04" name="Google Shape;10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86925" y="28336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8332715" y="5516910"/>
            <a:ext cx="2933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Closer: +1 | Further: -2   -1 no change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71500" y="571500"/>
            <a:ext cx="116014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 Shaping Accelerates Convergence</a:t>
            </a:r>
            <a:endParaRPr lang="en-US" sz="3200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DF8974B-8E10-79BC-B02B-F9FA4397F582}"/>
              </a:ext>
            </a:extLst>
          </p:cNvPr>
          <p:cNvSpPr/>
          <p:nvPr/>
        </p:nvSpPr>
        <p:spPr>
          <a:xfrm rot="21429709">
            <a:off x="9922101" y="-353712"/>
            <a:ext cx="4157501" cy="2353031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4F4769E1-4856-FB9E-66AB-C6D27BD79A7F}"/>
              </a:ext>
            </a:extLst>
          </p:cNvPr>
          <p:cNvSpPr/>
          <p:nvPr/>
        </p:nvSpPr>
        <p:spPr>
          <a:xfrm rot="19740446">
            <a:off x="-412879" y="562558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/>
          <p:cNvSpPr/>
          <p:nvPr/>
        </p:nvSpPr>
        <p:spPr>
          <a:xfrm rot="3969514">
            <a:off x="163554" y="46719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944E988E-A66E-5B86-7BF4-8F42D9A6D927}"/>
              </a:ext>
            </a:extLst>
          </p:cNvPr>
          <p:cNvSpPr/>
          <p:nvPr/>
        </p:nvSpPr>
        <p:spPr>
          <a:xfrm rot="3969514">
            <a:off x="7475544" y="6146862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8E2A7E69-52C8-4750-EFBE-5BCA37A8617F}"/>
              </a:ext>
            </a:extLst>
          </p:cNvPr>
          <p:cNvSpPr/>
          <p:nvPr/>
        </p:nvSpPr>
        <p:spPr>
          <a:xfrm rot="3969514">
            <a:off x="4498361" y="1567866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26B5244E-038E-C394-95A9-E69CCB951944}"/>
              </a:ext>
            </a:extLst>
          </p:cNvPr>
          <p:cNvSpPr/>
          <p:nvPr/>
        </p:nvSpPr>
        <p:spPr>
          <a:xfrm rot="-2227017">
            <a:off x="9475148" y="530633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10" name="Google Shape;176;p19" descr="image.png">
            <a:extLst>
              <a:ext uri="{FF2B5EF4-FFF2-40B4-BE49-F238E27FC236}">
                <a16:creationId xmlns:a16="http://schemas.microsoft.com/office/drawing/2014/main" id="{8707C386-403D-B9D5-4361-461CF187710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96899" y="2622961"/>
            <a:ext cx="3340112" cy="38374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964938" y="3667273"/>
            <a:ext cx="28003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Fast Delivery Reward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29725" y="3987184"/>
            <a:ext cx="3270777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35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Incentivizes the agent to complete tasks in minimal time. A dynamic bonus </a:t>
            </a:r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successful drop-off</a:t>
            </a:r>
            <a:r>
              <a:rPr lang="en-US" sz="135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to +20 is granted based on the step count efficiency. </a:t>
            </a:r>
          </a:p>
          <a:p>
            <a:pPr algn="ctr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per active time step.</a:t>
            </a:r>
          </a:p>
          <a:p>
            <a:pPr algn="ctr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-10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for illegal maneuvers.</a:t>
            </a:r>
          </a:p>
          <a:p>
            <a:pPr algn="ctr">
              <a:lnSpc>
                <a:spcPct val="160000"/>
              </a:lnSpc>
            </a:pPr>
            <a:r>
              <a:rPr lang="en-US" b="1" dirty="0">
                <a:solidFill>
                  <a:schemeClr val="tx1"/>
                </a:solidFill>
              </a:rPr>
              <a:t>Bonus </a:t>
            </a:r>
            <a:r>
              <a:rPr lang="en-US" dirty="0">
                <a:solidFill>
                  <a:schemeClr val="tx1"/>
                </a:solidFill>
              </a:rPr>
              <a:t>= max(0,20-(</a:t>
            </a:r>
            <a:r>
              <a:rPr lang="en-US" dirty="0" err="1">
                <a:solidFill>
                  <a:schemeClr val="tx1"/>
                </a:solidFill>
              </a:rPr>
              <a:t>step_count</a:t>
            </a:r>
            <a:r>
              <a:rPr lang="en-US" dirty="0">
                <a:solidFill>
                  <a:schemeClr val="tx1"/>
                </a:solidFill>
              </a:rPr>
              <a:t>/10))</a:t>
            </a:r>
          </a:p>
          <a:p>
            <a:pPr algn="ctr">
              <a:lnSpc>
                <a:spcPct val="16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8" name="Google Shape;91;p13" descr="image.png">
            <a:extLst>
              <a:ext uri="{FF2B5EF4-FFF2-40B4-BE49-F238E27FC236}">
                <a16:creationId xmlns:a16="http://schemas.microsoft.com/office/drawing/2014/main" id="{7A05BC23-4D79-FF59-10FF-EB572D2595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52625" y="2756863"/>
            <a:ext cx="762000" cy="46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;p13" descr="image.png">
            <a:extLst>
              <a:ext uri="{FF2B5EF4-FFF2-40B4-BE49-F238E27FC236}">
                <a16:creationId xmlns:a16="http://schemas.microsoft.com/office/drawing/2014/main" id="{42EC73E0-DFE3-C37D-6917-453C70EE432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81225" y="2839313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74E12A88-D380-772D-C191-54831365CBFC}"/>
              </a:ext>
            </a:extLst>
          </p:cNvPr>
          <p:cNvSpPr txBox="1"/>
          <p:nvPr/>
        </p:nvSpPr>
        <p:spPr>
          <a:xfrm>
            <a:off x="8233243" y="5817989"/>
            <a:ext cx="3091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-10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for illegal maneuvers  </a:t>
            </a:r>
          </a:p>
          <a:p>
            <a:r>
              <a:rPr lang="en-US" b="1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+30</a:t>
            </a:r>
            <a:r>
              <a:rPr lang="en-US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for successful drop-off</a:t>
            </a:r>
            <a:endParaRPr lang="he-IL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395331" y="379362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Policy Evolution: The Training Story</a:t>
            </a:r>
            <a:endParaRPr sz="3200" dirty="0"/>
          </a:p>
        </p:txBody>
      </p:sp>
      <p:pic>
        <p:nvPicPr>
          <p:cNvPr id="2" name="Google Shape;176;p19" descr="image.png">
            <a:extLst>
              <a:ext uri="{FF2B5EF4-FFF2-40B4-BE49-F238E27FC236}">
                <a16:creationId xmlns:a16="http://schemas.microsoft.com/office/drawing/2014/main" id="{1AFFEF09-2B58-80B6-DB68-818E69FE419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862024"/>
            <a:ext cx="12099685" cy="409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תמונה 4">
            <a:extLst>
              <a:ext uri="{FF2B5EF4-FFF2-40B4-BE49-F238E27FC236}">
                <a16:creationId xmlns:a16="http://schemas.microsoft.com/office/drawing/2014/main" id="{F57B948C-C5A5-28FE-B4F8-39E7474A9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990" y="2065225"/>
            <a:ext cx="3741987" cy="3753584"/>
          </a:xfrm>
          <a:prstGeom prst="rect">
            <a:avLst/>
          </a:prstGeom>
        </p:spPr>
      </p:pic>
      <p:pic>
        <p:nvPicPr>
          <p:cNvPr id="8" name="תמונה 6">
            <a:extLst>
              <a:ext uri="{FF2B5EF4-FFF2-40B4-BE49-F238E27FC236}">
                <a16:creationId xmlns:a16="http://schemas.microsoft.com/office/drawing/2014/main" id="{56522C1F-0CE8-4246-F982-4DD422FFD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336" y="2065225"/>
            <a:ext cx="3741987" cy="3753584"/>
          </a:xfrm>
          <a:prstGeom prst="rect">
            <a:avLst/>
          </a:prstGeom>
        </p:spPr>
      </p:pic>
      <p:pic>
        <p:nvPicPr>
          <p:cNvPr id="10" name="תמונה 8">
            <a:extLst>
              <a:ext uri="{FF2B5EF4-FFF2-40B4-BE49-F238E27FC236}">
                <a16:creationId xmlns:a16="http://schemas.microsoft.com/office/drawing/2014/main" id="{B42257FC-06DA-4947-1C21-5310596505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6682" y="2065225"/>
            <a:ext cx="3709584" cy="3753584"/>
          </a:xfrm>
          <a:prstGeom prst="rect">
            <a:avLst/>
          </a:prstGeom>
        </p:spPr>
      </p:pic>
      <p:sp>
        <p:nvSpPr>
          <p:cNvPr id="20" name="Freeform 7">
            <a:extLst>
              <a:ext uri="{FF2B5EF4-FFF2-40B4-BE49-F238E27FC236}">
                <a16:creationId xmlns:a16="http://schemas.microsoft.com/office/drawing/2014/main" id="{4ADF0C5C-366A-9973-3D11-F314994EB57F}"/>
              </a:ext>
            </a:extLst>
          </p:cNvPr>
          <p:cNvSpPr/>
          <p:nvPr/>
        </p:nvSpPr>
        <p:spPr>
          <a:xfrm>
            <a:off x="10492273" y="67888"/>
            <a:ext cx="1304396" cy="1115390"/>
          </a:xfrm>
          <a:custGeom>
            <a:avLst/>
            <a:gdLst/>
            <a:ahLst/>
            <a:cxnLst/>
            <a:rect l="l" t="t" r="r" b="b"/>
            <a:pathLst>
              <a:path w="3416993" h="3642143">
                <a:moveTo>
                  <a:pt x="0" y="0"/>
                </a:moveTo>
                <a:lnTo>
                  <a:pt x="3416993" y="0"/>
                </a:lnTo>
                <a:lnTo>
                  <a:pt x="3416993" y="3642144"/>
                </a:lnTo>
                <a:lnTo>
                  <a:pt x="0" y="3642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7F56CE98-A57D-5950-CC88-960B67B4F983}"/>
              </a:ext>
            </a:extLst>
          </p:cNvPr>
          <p:cNvSpPr/>
          <p:nvPr/>
        </p:nvSpPr>
        <p:spPr>
          <a:xfrm rot="3969514">
            <a:off x="8504131" y="412519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AB9D9439-096F-F3B9-2FB9-4F984D45D383}"/>
              </a:ext>
            </a:extLst>
          </p:cNvPr>
          <p:cNvSpPr/>
          <p:nvPr/>
        </p:nvSpPr>
        <p:spPr>
          <a:xfrm rot="3969514">
            <a:off x="2519436" y="6030845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26" name="Freeform 2">
            <a:extLst>
              <a:ext uri="{FF2B5EF4-FFF2-40B4-BE49-F238E27FC236}">
                <a16:creationId xmlns:a16="http://schemas.microsoft.com/office/drawing/2014/main" id="{B8DA3BCF-572F-2A62-B887-C72297345CD4}"/>
              </a:ext>
            </a:extLst>
          </p:cNvPr>
          <p:cNvSpPr/>
          <p:nvPr/>
        </p:nvSpPr>
        <p:spPr>
          <a:xfrm rot="21016526">
            <a:off x="7251825" y="6034043"/>
            <a:ext cx="2674115" cy="1477050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9" name="Google Shape;176;p19" descr="image.png">
            <a:extLst>
              <a:ext uri="{FF2B5EF4-FFF2-40B4-BE49-F238E27FC236}">
                <a16:creationId xmlns:a16="http://schemas.microsoft.com/office/drawing/2014/main" id="{C5D99340-744C-6123-0372-026689CAE5A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954538" y="1476070"/>
            <a:ext cx="2153871" cy="44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76;p19" descr="image.png">
            <a:extLst>
              <a:ext uri="{FF2B5EF4-FFF2-40B4-BE49-F238E27FC236}">
                <a16:creationId xmlns:a16="http://schemas.microsoft.com/office/drawing/2014/main" id="{28A592AD-2CD4-CFDA-67CD-C8EE0A7F5BF5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824703" y="1465955"/>
            <a:ext cx="2153871" cy="44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76;p19" descr="image.png">
            <a:extLst>
              <a:ext uri="{FF2B5EF4-FFF2-40B4-BE49-F238E27FC236}">
                <a16:creationId xmlns:a16="http://schemas.microsoft.com/office/drawing/2014/main" id="{77247ABA-A353-45C4-129A-0C6DB49BBC6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47102" y="1424150"/>
            <a:ext cx="2153871" cy="44394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תיבת טקסט 20">
            <a:extLst>
              <a:ext uri="{FF2B5EF4-FFF2-40B4-BE49-F238E27FC236}">
                <a16:creationId xmlns:a16="http://schemas.microsoft.com/office/drawing/2014/main" id="{08654C3E-2EB5-C191-F113-3FDE45EB8044}"/>
              </a:ext>
            </a:extLst>
          </p:cNvPr>
          <p:cNvSpPr txBox="1"/>
          <p:nvPr/>
        </p:nvSpPr>
        <p:spPr>
          <a:xfrm>
            <a:off x="1206129" y="1501948"/>
            <a:ext cx="2220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u="sng" dirty="0" err="1"/>
              <a:t>base_reward</a:t>
            </a:r>
            <a:r>
              <a:rPr lang="he-IL" b="1" u="sng" dirty="0"/>
              <a:t>_</a:t>
            </a:r>
            <a:r>
              <a:rPr lang="en-US" b="1" u="sng" dirty="0"/>
              <a:t>Kernel</a:t>
            </a:r>
            <a:endParaRPr lang="he-IL" b="1" u="sng" dirty="0"/>
          </a:p>
        </p:txBody>
      </p:sp>
      <p:sp>
        <p:nvSpPr>
          <p:cNvPr id="25" name="תיבת טקסט 22">
            <a:extLst>
              <a:ext uri="{FF2B5EF4-FFF2-40B4-BE49-F238E27FC236}">
                <a16:creationId xmlns:a16="http://schemas.microsoft.com/office/drawing/2014/main" id="{F7BEBD6B-7795-63DF-98D2-5ECABB714109}"/>
              </a:ext>
            </a:extLst>
          </p:cNvPr>
          <p:cNvSpPr txBox="1"/>
          <p:nvPr/>
        </p:nvSpPr>
        <p:spPr>
          <a:xfrm>
            <a:off x="5046533" y="1554247"/>
            <a:ext cx="2471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u="sng" dirty="0" err="1"/>
              <a:t>base_reward</a:t>
            </a:r>
            <a:r>
              <a:rPr lang="he-IL" b="1" u="sng" dirty="0"/>
              <a:t>_</a:t>
            </a:r>
            <a:r>
              <a:rPr lang="en-US" b="1" u="sng" dirty="0"/>
              <a:t>Planning</a:t>
            </a:r>
            <a:endParaRPr lang="he-IL" b="1" u="sng" dirty="0"/>
          </a:p>
        </p:txBody>
      </p:sp>
      <p:sp>
        <p:nvSpPr>
          <p:cNvPr id="27" name="תיבת טקסט 24">
            <a:extLst>
              <a:ext uri="{FF2B5EF4-FFF2-40B4-BE49-F238E27FC236}">
                <a16:creationId xmlns:a16="http://schemas.microsoft.com/office/drawing/2014/main" id="{5052F661-849F-64C2-82AA-21ECA6CEB4C5}"/>
              </a:ext>
            </a:extLst>
          </p:cNvPr>
          <p:cNvSpPr txBox="1"/>
          <p:nvPr/>
        </p:nvSpPr>
        <p:spPr>
          <a:xfrm>
            <a:off x="9093136" y="1535865"/>
            <a:ext cx="1935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1" u="sng" dirty="0" err="1"/>
              <a:t>base_reward</a:t>
            </a:r>
            <a:r>
              <a:rPr lang="he-IL" b="1" u="sng" dirty="0"/>
              <a:t>_</a:t>
            </a:r>
            <a:r>
              <a:rPr lang="en-US" b="1" u="sng" dirty="0"/>
              <a:t>Sarsa</a:t>
            </a:r>
            <a:endParaRPr lang="he-IL" b="1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Shape 186">
          <a:extLst>
            <a:ext uri="{FF2B5EF4-FFF2-40B4-BE49-F238E27FC236}">
              <a16:creationId xmlns:a16="http://schemas.microsoft.com/office/drawing/2014/main" id="{193AC06D-56F3-485C-3BF6-0B5B551A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>
            <a:extLst>
              <a:ext uri="{FF2B5EF4-FFF2-40B4-BE49-F238E27FC236}">
                <a16:creationId xmlns:a16="http://schemas.microsoft.com/office/drawing/2014/main" id="{4F0CD764-11CE-1BB4-7181-C19518159D13}"/>
              </a:ext>
            </a:extLst>
          </p:cNvPr>
          <p:cNvSpPr txBox="1"/>
          <p:nvPr/>
        </p:nvSpPr>
        <p:spPr>
          <a:xfrm>
            <a:off x="390569" y="143009"/>
            <a:ext cx="11636054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Policy Evolution – Full Algorithm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5088"/>
                </a:solidFill>
                <a:latin typeface="Merriweather"/>
                <a:sym typeface="Merriweather"/>
              </a:rPr>
              <a:t>(SARSA + Kernel + Planning)</a:t>
            </a:r>
            <a:endParaRPr sz="3200" dirty="0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0731D773-654B-5E21-1B7C-F33F7E58485C}"/>
              </a:ext>
            </a:extLst>
          </p:cNvPr>
          <p:cNvSpPr/>
          <p:nvPr/>
        </p:nvSpPr>
        <p:spPr>
          <a:xfrm rot="3969514">
            <a:off x="2239722" y="-711139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4DC4D7E0-62AA-004A-43F4-D2EAA8C69DE3}"/>
              </a:ext>
            </a:extLst>
          </p:cNvPr>
          <p:cNvSpPr/>
          <p:nvPr/>
        </p:nvSpPr>
        <p:spPr>
          <a:xfrm rot="578388">
            <a:off x="10231413" y="-167485"/>
            <a:ext cx="1828735" cy="1728985"/>
          </a:xfrm>
          <a:custGeom>
            <a:avLst/>
            <a:gdLst/>
            <a:ahLst/>
            <a:cxnLst/>
            <a:rect l="l" t="t" r="r" b="b"/>
            <a:pathLst>
              <a:path w="2743102" h="2593478">
                <a:moveTo>
                  <a:pt x="0" y="0"/>
                </a:moveTo>
                <a:lnTo>
                  <a:pt x="2743102" y="0"/>
                </a:lnTo>
                <a:lnTo>
                  <a:pt x="2743102" y="2593478"/>
                </a:lnTo>
                <a:lnTo>
                  <a:pt x="0" y="2593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AAD619F1-FFEE-FD7F-40FA-86B3BC8F592F}"/>
              </a:ext>
            </a:extLst>
          </p:cNvPr>
          <p:cNvSpPr/>
          <p:nvPr/>
        </p:nvSpPr>
        <p:spPr>
          <a:xfrm rot="544328">
            <a:off x="-971717" y="-338794"/>
            <a:ext cx="3180751" cy="1629786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732EF46-ED66-3AB2-E4FD-18ED7FCAE9CE}"/>
              </a:ext>
            </a:extLst>
          </p:cNvPr>
          <p:cNvSpPr/>
          <p:nvPr/>
        </p:nvSpPr>
        <p:spPr>
          <a:xfrm rot="-1214190">
            <a:off x="-314940" y="89106"/>
            <a:ext cx="2197310" cy="833607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pic>
        <p:nvPicPr>
          <p:cNvPr id="9" name="Google Shape;176;p19" descr="image.png">
            <a:extLst>
              <a:ext uri="{FF2B5EF4-FFF2-40B4-BE49-F238E27FC236}">
                <a16:creationId xmlns:a16="http://schemas.microsoft.com/office/drawing/2014/main" id="{12BE6601-5257-C246-AB5F-6C7852CAAAE7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2023047"/>
            <a:ext cx="12099685" cy="475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76;p19" descr="image.png">
            <a:extLst>
              <a:ext uri="{FF2B5EF4-FFF2-40B4-BE49-F238E27FC236}">
                <a16:creationId xmlns:a16="http://schemas.microsoft.com/office/drawing/2014/main" id="{05EDFEB5-C4FA-92DC-A8C9-F88554F169E4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42233" y="1597645"/>
            <a:ext cx="2153871" cy="44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תמונה 2">
            <a:extLst>
              <a:ext uri="{FF2B5EF4-FFF2-40B4-BE49-F238E27FC236}">
                <a16:creationId xmlns:a16="http://schemas.microsoft.com/office/drawing/2014/main" id="{6B6D3640-08F9-5055-78DC-6D11CD9315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518" y="2177684"/>
            <a:ext cx="5799305" cy="4378135"/>
          </a:xfrm>
          <a:prstGeom prst="rect">
            <a:avLst/>
          </a:prstGeom>
        </p:spPr>
      </p:pic>
      <p:pic>
        <p:nvPicPr>
          <p:cNvPr id="13" name="Google Shape;176;p19" descr="image.png">
            <a:extLst>
              <a:ext uri="{FF2B5EF4-FFF2-40B4-BE49-F238E27FC236}">
                <a16:creationId xmlns:a16="http://schemas.microsoft.com/office/drawing/2014/main" id="{64106646-7025-121E-DC41-CC7A403A396F}"/>
              </a:ext>
            </a:extLst>
          </p:cNvPr>
          <p:cNvPicPr preferRelativeResize="0"/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149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945690" y="1597645"/>
            <a:ext cx="2153871" cy="44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EA350A33-5F6B-E6ED-6A46-31D9CB6FE4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177" y="2177684"/>
            <a:ext cx="5604227" cy="437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91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/>
        </p:nvSpPr>
        <p:spPr>
          <a:xfrm>
            <a:off x="326296" y="294887"/>
            <a:ext cx="523620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 Results: Design Success</a:t>
            </a:r>
            <a:endParaRPr sz="3600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4466EDE-0D31-D5CF-DE0D-508F90E18911}"/>
              </a:ext>
            </a:extLst>
          </p:cNvPr>
          <p:cNvSpPr/>
          <p:nvPr/>
        </p:nvSpPr>
        <p:spPr>
          <a:xfrm rot="544328">
            <a:off x="-792991" y="5444262"/>
            <a:ext cx="3180751" cy="1629786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7F7FF4B-E01E-2B59-245C-9B9A326D8727}"/>
              </a:ext>
            </a:extLst>
          </p:cNvPr>
          <p:cNvSpPr/>
          <p:nvPr/>
        </p:nvSpPr>
        <p:spPr>
          <a:xfrm rot="-1214190">
            <a:off x="-136215" y="5872162"/>
            <a:ext cx="2197310" cy="833607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AE55BE9-3405-493E-1297-059B2A37FC93}"/>
              </a:ext>
            </a:extLst>
          </p:cNvPr>
          <p:cNvSpPr/>
          <p:nvPr/>
        </p:nvSpPr>
        <p:spPr>
          <a:xfrm rot="3969514">
            <a:off x="5015428" y="1240711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31467784-C96B-1624-B79E-612069B47D02}"/>
              </a:ext>
            </a:extLst>
          </p:cNvPr>
          <p:cNvSpPr/>
          <p:nvPr/>
        </p:nvSpPr>
        <p:spPr>
          <a:xfrm rot="3969514">
            <a:off x="3901502" y="6060107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Google Shape;156;p18">
            <a:extLst>
              <a:ext uri="{FF2B5EF4-FFF2-40B4-BE49-F238E27FC236}">
                <a16:creationId xmlns:a16="http://schemas.microsoft.com/office/drawing/2014/main" id="{CE77C738-E280-9790-CF1E-EC8009C9AB61}"/>
              </a:ext>
            </a:extLst>
          </p:cNvPr>
          <p:cNvSpPr txBox="1"/>
          <p:nvPr/>
        </p:nvSpPr>
        <p:spPr>
          <a:xfrm>
            <a:off x="471235" y="2259449"/>
            <a:ext cx="4679650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sz="1600" b="1" dirty="0">
                <a:solidFill>
                  <a:srgbClr val="005088"/>
                </a:solidFill>
              </a:rPr>
              <a:t>Custom Reward 3</a:t>
            </a:r>
            <a:r>
              <a:rPr lang="en-IL" sz="1600" dirty="0">
                <a:solidFill>
                  <a:srgbClr val="005088"/>
                </a:solidFill>
              </a:rPr>
              <a:t> learns the fastest and</a:t>
            </a:r>
            <a:r>
              <a:rPr lang="en-US" sz="1600" dirty="0">
                <a:solidFill>
                  <a:srgbClr val="005088"/>
                </a:solidFill>
              </a:rPr>
              <a:t> </a:t>
            </a:r>
            <a:r>
              <a:rPr lang="en-IL" sz="1600" dirty="0">
                <a:solidFill>
                  <a:srgbClr val="005088"/>
                </a:solidFill>
              </a:rPr>
              <a:t>reaches stable performance earliest.</a:t>
            </a:r>
            <a:endParaRPr lang="en-US" sz="1600" dirty="0">
              <a:solidFill>
                <a:srgbClr val="00508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L" sz="8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sz="1600" b="1" dirty="0">
                <a:solidFill>
                  <a:srgbClr val="005088"/>
                </a:solidFill>
              </a:rPr>
              <a:t>Sparse Reward</a:t>
            </a:r>
            <a:r>
              <a:rPr lang="en-IL" sz="1600" dirty="0">
                <a:solidFill>
                  <a:srgbClr val="005088"/>
                </a:solidFill>
              </a:rPr>
              <a:t> fails to learn efficiently due to extremely limited feedback.</a:t>
            </a:r>
            <a:endParaRPr lang="en-US" sz="1600" dirty="0">
              <a:solidFill>
                <a:srgbClr val="00508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L" sz="8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sz="1600" b="1" dirty="0">
                <a:solidFill>
                  <a:srgbClr val="005088"/>
                </a:solidFill>
              </a:rPr>
              <a:t>Our custom rewards</a:t>
            </a:r>
            <a:r>
              <a:rPr lang="en-IL" sz="1600" dirty="0">
                <a:solidFill>
                  <a:srgbClr val="005088"/>
                </a:solidFill>
              </a:rPr>
              <a:t> improve both cumulative reward and learning speed.</a:t>
            </a:r>
            <a:endParaRPr lang="en-US" sz="1600" dirty="0">
              <a:solidFill>
                <a:srgbClr val="00508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L" sz="8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sz="1600" b="1" dirty="0">
                <a:solidFill>
                  <a:srgbClr val="005088"/>
                </a:solidFill>
              </a:rPr>
              <a:t>Reward design </a:t>
            </a:r>
            <a:r>
              <a:rPr lang="en-IL" sz="1600" dirty="0">
                <a:solidFill>
                  <a:srgbClr val="005088"/>
                </a:solidFill>
              </a:rPr>
              <a:t>directly shapes agent </a:t>
            </a:r>
            <a:r>
              <a:rPr lang="en-IL" sz="1600" dirty="0" err="1">
                <a:solidFill>
                  <a:srgbClr val="005088"/>
                </a:solidFill>
              </a:rPr>
              <a:t>behavior</a:t>
            </a:r>
            <a:r>
              <a:rPr lang="en-IL" sz="1600" dirty="0">
                <a:solidFill>
                  <a:srgbClr val="005088"/>
                </a:solidFill>
              </a:rPr>
              <a:t> and convergence.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9292CF9D-7AF3-1DC7-B4E6-C5F80EB557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8094"/>
            <a:ext cx="5769703" cy="320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91C952A-42FF-4E1F-42CF-4F3825BF1BA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87931"/>
            <a:ext cx="5769703" cy="292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083">
            <a:off x="-3104668" y="-1605391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/>
          <p:cNvSpPr/>
          <p:nvPr/>
        </p:nvSpPr>
        <p:spPr>
          <a:xfrm rot="-2227017">
            <a:off x="-575523" y="-97524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/>
          <p:cNvSpPr/>
          <p:nvPr/>
        </p:nvSpPr>
        <p:spPr>
          <a:xfrm rot="-2227017">
            <a:off x="4567445" y="6485320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6"/>
          <p:cNvSpPr/>
          <p:nvPr/>
        </p:nvSpPr>
        <p:spPr>
          <a:xfrm rot="3969514">
            <a:off x="7967704" y="6893684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/>
          <p:cNvSpPr/>
          <p:nvPr/>
        </p:nvSpPr>
        <p:spPr>
          <a:xfrm rot="3969514">
            <a:off x="812231" y="2012189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3F2D43E9-7844-F3CE-223F-510D43E8640D}"/>
              </a:ext>
            </a:extLst>
          </p:cNvPr>
          <p:cNvSpPr/>
          <p:nvPr/>
        </p:nvSpPr>
        <p:spPr>
          <a:xfrm rot="544328">
            <a:off x="9358030" y="-1096923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126D280-EF4C-8FF8-80EF-F83E48A8477B}"/>
              </a:ext>
            </a:extLst>
          </p:cNvPr>
          <p:cNvSpPr/>
          <p:nvPr/>
        </p:nvSpPr>
        <p:spPr>
          <a:xfrm rot="-1214190">
            <a:off x="9307728" y="-691760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13" name="Google Shape;214;p22">
            <a:extLst>
              <a:ext uri="{FF2B5EF4-FFF2-40B4-BE49-F238E27FC236}">
                <a16:creationId xmlns:a16="http://schemas.microsoft.com/office/drawing/2014/main" id="{00AF89CD-A430-ABC3-51DF-FDFC185DC753}"/>
              </a:ext>
            </a:extLst>
          </p:cNvPr>
          <p:cNvSpPr txBox="1"/>
          <p:nvPr/>
        </p:nvSpPr>
        <p:spPr>
          <a:xfrm>
            <a:off x="445948" y="118530"/>
            <a:ext cx="1121543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Ablation Study: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Reward Comparison</a:t>
            </a:r>
            <a:endParaRPr dirty="0"/>
          </a:p>
        </p:txBody>
      </p:sp>
      <p:sp>
        <p:nvSpPr>
          <p:cNvPr id="8" name="Google Shape;156;p18">
            <a:extLst>
              <a:ext uri="{FF2B5EF4-FFF2-40B4-BE49-F238E27FC236}">
                <a16:creationId xmlns:a16="http://schemas.microsoft.com/office/drawing/2014/main" id="{E3DA35C4-69B5-BEC2-1641-B43B4F2C01E3}"/>
              </a:ext>
            </a:extLst>
          </p:cNvPr>
          <p:cNvSpPr txBox="1"/>
          <p:nvPr/>
        </p:nvSpPr>
        <p:spPr>
          <a:xfrm>
            <a:off x="1925293" y="1613010"/>
            <a:ext cx="3419278" cy="136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Planning </a:t>
            </a:r>
            <a:r>
              <a:rPr lang="en-US" sz="1600" dirty="0">
                <a:solidFill>
                  <a:srgbClr val="005088"/>
                </a:solidFill>
              </a:rPr>
              <a:t>provides the greatest performance gain.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Kernel </a:t>
            </a:r>
            <a:r>
              <a:rPr lang="en-US" sz="1600" dirty="0">
                <a:solidFill>
                  <a:srgbClr val="005088"/>
                </a:solidFill>
              </a:rPr>
              <a:t>improves learning but has a smaller effect.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12" name="Google Shape;156;p18">
            <a:extLst>
              <a:ext uri="{FF2B5EF4-FFF2-40B4-BE49-F238E27FC236}">
                <a16:creationId xmlns:a16="http://schemas.microsoft.com/office/drawing/2014/main" id="{4FBDBACF-EFBB-95A1-B0F6-3372F75405D5}"/>
              </a:ext>
            </a:extLst>
          </p:cNvPr>
          <p:cNvSpPr txBox="1"/>
          <p:nvPr/>
        </p:nvSpPr>
        <p:spPr>
          <a:xfrm>
            <a:off x="7568779" y="1599944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Full algorithm</a:t>
            </a:r>
            <a:r>
              <a:rPr lang="en-US" sz="1600" dirty="0">
                <a:solidFill>
                  <a:srgbClr val="005088"/>
                </a:solidFill>
              </a:rPr>
              <a:t> consistently performs best.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Results </a:t>
            </a:r>
            <a:r>
              <a:rPr lang="en-US" sz="1600" dirty="0">
                <a:solidFill>
                  <a:srgbClr val="005088"/>
                </a:solidFill>
              </a:rPr>
              <a:t>are consistent across both reward settings.</a:t>
            </a:r>
            <a:endParaRPr lang="en-IL" sz="1600" dirty="0">
              <a:solidFill>
                <a:srgbClr val="005088"/>
              </a:solidFill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40886F2-0C70-3C93-7586-634F1C2CEEF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21" y="3028654"/>
            <a:ext cx="5808617" cy="3423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F14AE4BC-1D58-DEEE-058D-DBF73DDA96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926" y="3028654"/>
            <a:ext cx="5129349" cy="3355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19C19BE5-C3A6-3148-48BE-2386A1C8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414907-4801-9E00-0E41-2553E86F5909}"/>
              </a:ext>
            </a:extLst>
          </p:cNvPr>
          <p:cNvSpPr/>
          <p:nvPr/>
        </p:nvSpPr>
        <p:spPr>
          <a:xfrm rot="575083">
            <a:off x="-3409774" y="-1620533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88A35AE-677B-DE10-3329-2BEC0B2FCE88}"/>
              </a:ext>
            </a:extLst>
          </p:cNvPr>
          <p:cNvSpPr/>
          <p:nvPr/>
        </p:nvSpPr>
        <p:spPr>
          <a:xfrm rot="-2227017">
            <a:off x="-1046510" y="-348717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F81A08D-5E4A-1E1C-1231-384FE5DE7542}"/>
              </a:ext>
            </a:extLst>
          </p:cNvPr>
          <p:cNvSpPr/>
          <p:nvPr/>
        </p:nvSpPr>
        <p:spPr>
          <a:xfrm rot="-2227017">
            <a:off x="3734932" y="6248957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E04BE415-44FF-F2E2-8972-016F9D381171}"/>
              </a:ext>
            </a:extLst>
          </p:cNvPr>
          <p:cNvSpPr/>
          <p:nvPr/>
        </p:nvSpPr>
        <p:spPr>
          <a:xfrm rot="3969514">
            <a:off x="1063034" y="1918010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3915ADE6-EC0D-4829-5C5F-59854FEBC24A}"/>
              </a:ext>
            </a:extLst>
          </p:cNvPr>
          <p:cNvSpPr/>
          <p:nvPr/>
        </p:nvSpPr>
        <p:spPr>
          <a:xfrm rot="544328">
            <a:off x="9260761" y="-1222959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DC8586A-171F-0FCC-38B3-E2559C66B8F9}"/>
              </a:ext>
            </a:extLst>
          </p:cNvPr>
          <p:cNvSpPr/>
          <p:nvPr/>
        </p:nvSpPr>
        <p:spPr>
          <a:xfrm rot="1379446">
            <a:off x="8839638" y="-242546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11" name="Google Shape;214;p22">
            <a:extLst>
              <a:ext uri="{FF2B5EF4-FFF2-40B4-BE49-F238E27FC236}">
                <a16:creationId xmlns:a16="http://schemas.microsoft.com/office/drawing/2014/main" id="{D3D6C2DB-1E2D-C704-6E83-7CA1E0D5B41F}"/>
              </a:ext>
            </a:extLst>
          </p:cNvPr>
          <p:cNvSpPr txBox="1"/>
          <p:nvPr/>
        </p:nvSpPr>
        <p:spPr>
          <a:xfrm>
            <a:off x="488284" y="135847"/>
            <a:ext cx="1121543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Ablation Study: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Episode Length Comparison</a:t>
            </a:r>
            <a:endParaRPr dirty="0"/>
          </a:p>
        </p:txBody>
      </p:sp>
      <p:sp>
        <p:nvSpPr>
          <p:cNvPr id="12" name="Google Shape;156;p18">
            <a:extLst>
              <a:ext uri="{FF2B5EF4-FFF2-40B4-BE49-F238E27FC236}">
                <a16:creationId xmlns:a16="http://schemas.microsoft.com/office/drawing/2014/main" id="{70B6BFB5-4AE7-E64D-38D0-76655F6C6B0E}"/>
              </a:ext>
            </a:extLst>
          </p:cNvPr>
          <p:cNvSpPr txBox="1"/>
          <p:nvPr/>
        </p:nvSpPr>
        <p:spPr>
          <a:xfrm>
            <a:off x="2114669" y="1602739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Planning </a:t>
            </a:r>
            <a:r>
              <a:rPr lang="en-US" sz="1600" dirty="0">
                <a:solidFill>
                  <a:srgbClr val="005088"/>
                </a:solidFill>
              </a:rPr>
              <a:t>rapidly reduces episode length.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b="1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Kernel </a:t>
            </a:r>
            <a:r>
              <a:rPr lang="en-US" sz="1600" dirty="0">
                <a:solidFill>
                  <a:srgbClr val="005088"/>
                </a:solidFill>
              </a:rPr>
              <a:t>improves efficiency over SARSA.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13" name="Google Shape;156;p18">
            <a:extLst>
              <a:ext uri="{FF2B5EF4-FFF2-40B4-BE49-F238E27FC236}">
                <a16:creationId xmlns:a16="http://schemas.microsoft.com/office/drawing/2014/main" id="{AA8C7764-6C99-A34A-9025-55CEB1275D99}"/>
              </a:ext>
            </a:extLst>
          </p:cNvPr>
          <p:cNvSpPr txBox="1"/>
          <p:nvPr/>
        </p:nvSpPr>
        <p:spPr>
          <a:xfrm>
            <a:off x="7164342" y="1605584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Full algorithm</a:t>
            </a:r>
            <a:r>
              <a:rPr lang="en-US" sz="1600" dirty="0">
                <a:solidFill>
                  <a:srgbClr val="005088"/>
                </a:solidFill>
              </a:rPr>
              <a:t> reaches near-optimal paths the fastest.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Results </a:t>
            </a:r>
            <a:r>
              <a:rPr lang="en-US" sz="1600" dirty="0">
                <a:solidFill>
                  <a:srgbClr val="005088"/>
                </a:solidFill>
              </a:rPr>
              <a:t>are consistent across both reward functions.</a:t>
            </a:r>
            <a:endParaRPr lang="en-IL" sz="1600" dirty="0">
              <a:solidFill>
                <a:srgbClr val="005088"/>
              </a:solidFill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25BFF45-BEF0-1E39-2B3F-1DAEBA958A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29" y="2978331"/>
            <a:ext cx="5664240" cy="3743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75659D17-2BC4-115E-5DC1-83A3905D89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377" y="2978331"/>
            <a:ext cx="5544337" cy="34660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164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86A21-A873-A8C8-528B-6D34C7CB8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D90010-E362-37F2-982A-E6F815D551E6}"/>
              </a:ext>
            </a:extLst>
          </p:cNvPr>
          <p:cNvSpPr/>
          <p:nvPr/>
        </p:nvSpPr>
        <p:spPr>
          <a:xfrm rot="575083">
            <a:off x="-3322301" y="-1612833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6F7B8B6-8C08-3D05-D9CA-3A377BF6F655}"/>
              </a:ext>
            </a:extLst>
          </p:cNvPr>
          <p:cNvSpPr/>
          <p:nvPr/>
        </p:nvSpPr>
        <p:spPr>
          <a:xfrm rot="-2227017">
            <a:off x="-982942" y="-30409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9223A04-EC99-F565-533B-D4C4D0136C6F}"/>
              </a:ext>
            </a:extLst>
          </p:cNvPr>
          <p:cNvSpPr/>
          <p:nvPr/>
        </p:nvSpPr>
        <p:spPr>
          <a:xfrm rot="-2227017">
            <a:off x="2157118" y="6118376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4F049E6-5B36-A68C-8656-1C345205B66A}"/>
              </a:ext>
            </a:extLst>
          </p:cNvPr>
          <p:cNvSpPr/>
          <p:nvPr/>
        </p:nvSpPr>
        <p:spPr>
          <a:xfrm rot="3969514">
            <a:off x="7967704" y="6893684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2B467BE-E882-B109-9D2E-FA836A1AFC9D}"/>
              </a:ext>
            </a:extLst>
          </p:cNvPr>
          <p:cNvSpPr/>
          <p:nvPr/>
        </p:nvSpPr>
        <p:spPr>
          <a:xfrm rot="3969514">
            <a:off x="1063034" y="1918010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70606DB8-030C-284B-69E5-7EF3C8CE5375}"/>
              </a:ext>
            </a:extLst>
          </p:cNvPr>
          <p:cNvSpPr/>
          <p:nvPr/>
        </p:nvSpPr>
        <p:spPr>
          <a:xfrm rot="544328">
            <a:off x="9229836" y="-1053788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8D6E738-21EA-1BAC-E449-DF9BD990B812}"/>
              </a:ext>
            </a:extLst>
          </p:cNvPr>
          <p:cNvSpPr/>
          <p:nvPr/>
        </p:nvSpPr>
        <p:spPr>
          <a:xfrm rot="-1214190">
            <a:off x="9644571" y="-393402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12" name="תיבת טקסט 21">
            <a:extLst>
              <a:ext uri="{FF2B5EF4-FFF2-40B4-BE49-F238E27FC236}">
                <a16:creationId xmlns:a16="http://schemas.microsoft.com/office/drawing/2014/main" id="{C52260DB-1121-FDBA-F777-9564D5CE9D10}"/>
              </a:ext>
            </a:extLst>
          </p:cNvPr>
          <p:cNvSpPr txBox="1"/>
          <p:nvPr/>
        </p:nvSpPr>
        <p:spPr>
          <a:xfrm>
            <a:off x="1330505" y="245903"/>
            <a:ext cx="9244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Hyperparameter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l-GR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(α)</a:t>
            </a:r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Analysis:</a:t>
            </a:r>
          </a:p>
          <a:p>
            <a:pPr lvl="0" algn="ctr"/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Reward Comparison</a:t>
            </a:r>
            <a:endParaRPr lang="en-US" sz="3200" dirty="0"/>
          </a:p>
        </p:txBody>
      </p:sp>
      <p:sp>
        <p:nvSpPr>
          <p:cNvPr id="13" name="Google Shape;156;p18">
            <a:extLst>
              <a:ext uri="{FF2B5EF4-FFF2-40B4-BE49-F238E27FC236}">
                <a16:creationId xmlns:a16="http://schemas.microsoft.com/office/drawing/2014/main" id="{858A5BC9-EC5E-9E32-6305-8F8E756D0FA3}"/>
              </a:ext>
            </a:extLst>
          </p:cNvPr>
          <p:cNvSpPr txBox="1"/>
          <p:nvPr/>
        </p:nvSpPr>
        <p:spPr>
          <a:xfrm>
            <a:off x="2114669" y="1602739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α = 0.20–0.40 </a:t>
            </a:r>
            <a:r>
              <a:rPr lang="en-US" sz="1600" dirty="0">
                <a:solidFill>
                  <a:srgbClr val="005088"/>
                </a:solidFill>
              </a:rPr>
              <a:t>reaches the highest returns.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Lower α </a:t>
            </a:r>
            <a:r>
              <a:rPr lang="en-US" sz="1600" dirty="0">
                <a:solidFill>
                  <a:srgbClr val="005088"/>
                </a:solidFill>
              </a:rPr>
              <a:t>slows convergence and final performance.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14" name="Google Shape;156;p18">
            <a:extLst>
              <a:ext uri="{FF2B5EF4-FFF2-40B4-BE49-F238E27FC236}">
                <a16:creationId xmlns:a16="http://schemas.microsoft.com/office/drawing/2014/main" id="{5623B9ED-9F14-B87A-33F3-BC89CE350BAC}"/>
              </a:ext>
            </a:extLst>
          </p:cNvPr>
          <p:cNvSpPr txBox="1"/>
          <p:nvPr/>
        </p:nvSpPr>
        <p:spPr>
          <a:xfrm>
            <a:off x="7164342" y="1605584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Custom Reward 1 </a:t>
            </a:r>
            <a:r>
              <a:rPr lang="en-US" sz="1600" dirty="0">
                <a:solidFill>
                  <a:srgbClr val="005088"/>
                </a:solidFill>
              </a:rPr>
              <a:t>achieves faster, more stable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Higher α </a:t>
            </a:r>
            <a:r>
              <a:rPr lang="en-US" sz="1600" dirty="0">
                <a:solidFill>
                  <a:srgbClr val="005088"/>
                </a:solidFill>
              </a:rPr>
              <a:t>increases reward more rapidly.</a:t>
            </a:r>
            <a:endParaRPr lang="en-IL" sz="1600" dirty="0">
              <a:solidFill>
                <a:srgbClr val="005088"/>
              </a:solidFill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6D295E85-E680-89F2-B649-1AE761842E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64" y="2907460"/>
            <a:ext cx="6017623" cy="380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B41BFC9D-281F-7778-375E-83E3E4A76D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600" y="2907460"/>
            <a:ext cx="5304680" cy="358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44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C5C72-FA13-B04C-3950-CF3DF6F0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3052D9-4722-F925-47BA-E9F7D946EF2E}"/>
              </a:ext>
            </a:extLst>
          </p:cNvPr>
          <p:cNvSpPr/>
          <p:nvPr/>
        </p:nvSpPr>
        <p:spPr>
          <a:xfrm rot="575083">
            <a:off x="-3850704" y="-1612832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F88E9E5-36BC-42AD-491F-F6950CD1739C}"/>
              </a:ext>
            </a:extLst>
          </p:cNvPr>
          <p:cNvSpPr/>
          <p:nvPr/>
        </p:nvSpPr>
        <p:spPr>
          <a:xfrm rot="-2227017">
            <a:off x="-1487440" y="-341016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8C60B59-26E2-4D59-8028-4146E254D426}"/>
              </a:ext>
            </a:extLst>
          </p:cNvPr>
          <p:cNvSpPr/>
          <p:nvPr/>
        </p:nvSpPr>
        <p:spPr>
          <a:xfrm rot="-2227017">
            <a:off x="4567445" y="6485320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C7323F-89AC-32BC-0177-6674B0656EE9}"/>
              </a:ext>
            </a:extLst>
          </p:cNvPr>
          <p:cNvSpPr/>
          <p:nvPr/>
        </p:nvSpPr>
        <p:spPr>
          <a:xfrm rot="3969514">
            <a:off x="7967704" y="6893684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F017998-2951-5BEE-DFAA-894D79BFA015}"/>
              </a:ext>
            </a:extLst>
          </p:cNvPr>
          <p:cNvSpPr/>
          <p:nvPr/>
        </p:nvSpPr>
        <p:spPr>
          <a:xfrm rot="3969514">
            <a:off x="1063034" y="1918010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7D26390-C5F5-7B34-9C78-EE25E882D9D2}"/>
              </a:ext>
            </a:extLst>
          </p:cNvPr>
          <p:cNvSpPr/>
          <p:nvPr/>
        </p:nvSpPr>
        <p:spPr>
          <a:xfrm rot="544328">
            <a:off x="9347025" y="-1415394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7290555-D62A-1020-F593-F367F750B6BC}"/>
              </a:ext>
            </a:extLst>
          </p:cNvPr>
          <p:cNvSpPr/>
          <p:nvPr/>
        </p:nvSpPr>
        <p:spPr>
          <a:xfrm rot="-1214190">
            <a:off x="9761760" y="-755008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9" name="תיבת טקסט 21">
            <a:extLst>
              <a:ext uri="{FF2B5EF4-FFF2-40B4-BE49-F238E27FC236}">
                <a16:creationId xmlns:a16="http://schemas.microsoft.com/office/drawing/2014/main" id="{386721A5-C88D-8704-8BD5-595881A63751}"/>
              </a:ext>
            </a:extLst>
          </p:cNvPr>
          <p:cNvSpPr txBox="1"/>
          <p:nvPr/>
        </p:nvSpPr>
        <p:spPr>
          <a:xfrm>
            <a:off x="1570840" y="200596"/>
            <a:ext cx="9244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Hyperparameter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l-GR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(α)</a:t>
            </a:r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Analysis:</a:t>
            </a:r>
          </a:p>
          <a:p>
            <a:pPr algn="ctr"/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Episode Length Comparison</a:t>
            </a:r>
            <a:endParaRPr lang="he-IL" sz="3200" b="1" dirty="0">
              <a:solidFill>
                <a:schemeClr val="bg2"/>
              </a:solidFill>
              <a:latin typeface="Merriweather" panose="00000500000000000000" pitchFamily="2" charset="0"/>
            </a:endParaRPr>
          </a:p>
        </p:txBody>
      </p:sp>
      <p:sp>
        <p:nvSpPr>
          <p:cNvPr id="13" name="Google Shape;156;p18">
            <a:extLst>
              <a:ext uri="{FF2B5EF4-FFF2-40B4-BE49-F238E27FC236}">
                <a16:creationId xmlns:a16="http://schemas.microsoft.com/office/drawing/2014/main" id="{EA902979-9EE7-9563-262A-FE93FDB9E219}"/>
              </a:ext>
            </a:extLst>
          </p:cNvPr>
          <p:cNvSpPr txBox="1"/>
          <p:nvPr/>
        </p:nvSpPr>
        <p:spPr>
          <a:xfrm>
            <a:off x="2114669" y="1602739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Higher </a:t>
            </a:r>
            <a:r>
              <a:rPr lang="el-GR" sz="1600" b="1" dirty="0">
                <a:solidFill>
                  <a:srgbClr val="005088"/>
                </a:solidFill>
              </a:rPr>
              <a:t>α </a:t>
            </a:r>
            <a:r>
              <a:rPr lang="en-US" sz="1600" dirty="0">
                <a:solidFill>
                  <a:srgbClr val="005088"/>
                </a:solidFill>
              </a:rPr>
              <a:t>accelerates convergence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α = 0.40 </a:t>
            </a:r>
            <a:r>
              <a:rPr lang="en-US" sz="1600" dirty="0">
                <a:solidFill>
                  <a:srgbClr val="005088"/>
                </a:solidFill>
              </a:rPr>
              <a:t>was selected for the final model.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14" name="Google Shape;156;p18">
            <a:extLst>
              <a:ext uri="{FF2B5EF4-FFF2-40B4-BE49-F238E27FC236}">
                <a16:creationId xmlns:a16="http://schemas.microsoft.com/office/drawing/2014/main" id="{792CC8EF-5C56-55BA-40C0-02253E590CE1}"/>
              </a:ext>
            </a:extLst>
          </p:cNvPr>
          <p:cNvSpPr txBox="1"/>
          <p:nvPr/>
        </p:nvSpPr>
        <p:spPr>
          <a:xfrm>
            <a:off x="7164342" y="1605584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Lower α </a:t>
            </a:r>
            <a:r>
              <a:rPr lang="en-US" sz="1600" dirty="0">
                <a:solidFill>
                  <a:srgbClr val="005088"/>
                </a:solidFill>
              </a:rPr>
              <a:t>requires substantially more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Results </a:t>
            </a:r>
            <a:r>
              <a:rPr lang="en-US" sz="1600" dirty="0">
                <a:solidFill>
                  <a:srgbClr val="005088"/>
                </a:solidFill>
              </a:rPr>
              <a:t>are consistent across both reward functions.</a:t>
            </a:r>
            <a:endParaRPr lang="en-IL" sz="1600" dirty="0">
              <a:solidFill>
                <a:srgbClr val="005088"/>
              </a:solidFill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2089FDD2-D54C-5F42-6A43-7832CC7188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96" y="2807529"/>
            <a:ext cx="5181112" cy="401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585FC365-9383-570A-1233-1A45397C4F0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81" y="2937517"/>
            <a:ext cx="5579600" cy="37507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9697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0E0BF-1F62-AA23-231A-65EF273F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7F4CA0-6B76-5359-D4DD-1816F08376B9}"/>
              </a:ext>
            </a:extLst>
          </p:cNvPr>
          <p:cNvSpPr/>
          <p:nvPr/>
        </p:nvSpPr>
        <p:spPr>
          <a:xfrm rot="575083">
            <a:off x="-3346206" y="-1575911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386223E-4F65-6136-DE76-59E94BBF047D}"/>
              </a:ext>
            </a:extLst>
          </p:cNvPr>
          <p:cNvSpPr/>
          <p:nvPr/>
        </p:nvSpPr>
        <p:spPr>
          <a:xfrm rot="-2227017">
            <a:off x="-982942" y="-30409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C9FE2EB-FE27-8CA4-A1FA-A4CD87278184}"/>
              </a:ext>
            </a:extLst>
          </p:cNvPr>
          <p:cNvSpPr/>
          <p:nvPr/>
        </p:nvSpPr>
        <p:spPr>
          <a:xfrm rot="-2227017">
            <a:off x="2157118" y="6118376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3BFAD8A-3048-880B-0E3F-AA1ADB8B6DB1}"/>
              </a:ext>
            </a:extLst>
          </p:cNvPr>
          <p:cNvSpPr/>
          <p:nvPr/>
        </p:nvSpPr>
        <p:spPr>
          <a:xfrm rot="3969514">
            <a:off x="1063034" y="1918010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C6B9CB8-5095-2AD6-F6C7-EDF7A6CAAFEC}"/>
              </a:ext>
            </a:extLst>
          </p:cNvPr>
          <p:cNvSpPr/>
          <p:nvPr/>
        </p:nvSpPr>
        <p:spPr>
          <a:xfrm rot="544328">
            <a:off x="9347025" y="-1415394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77546AD-4858-77B5-5E98-246332D13356}"/>
              </a:ext>
            </a:extLst>
          </p:cNvPr>
          <p:cNvSpPr/>
          <p:nvPr/>
        </p:nvSpPr>
        <p:spPr>
          <a:xfrm rot="-1214190">
            <a:off x="9761760" y="-755008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9" name="Google Shape;156;p18">
            <a:extLst>
              <a:ext uri="{FF2B5EF4-FFF2-40B4-BE49-F238E27FC236}">
                <a16:creationId xmlns:a16="http://schemas.microsoft.com/office/drawing/2014/main" id="{9632FA1A-54E1-A48A-4E8E-26860DA5480E}"/>
              </a:ext>
            </a:extLst>
          </p:cNvPr>
          <p:cNvSpPr txBox="1"/>
          <p:nvPr/>
        </p:nvSpPr>
        <p:spPr>
          <a:xfrm>
            <a:off x="2114669" y="1602739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Lower exploration </a:t>
            </a:r>
            <a:r>
              <a:rPr lang="en-US" sz="1600" dirty="0">
                <a:solidFill>
                  <a:srgbClr val="005088"/>
                </a:solidFill>
              </a:rPr>
              <a:t>accelerates reward accumulation.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b="1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ε = 0.01 </a:t>
            </a:r>
            <a:r>
              <a:rPr lang="en-US" sz="1600" dirty="0">
                <a:solidFill>
                  <a:srgbClr val="005088"/>
                </a:solidFill>
              </a:rPr>
              <a:t>was selected for the final model.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12" name="Google Shape;156;p18">
            <a:extLst>
              <a:ext uri="{FF2B5EF4-FFF2-40B4-BE49-F238E27FC236}">
                <a16:creationId xmlns:a16="http://schemas.microsoft.com/office/drawing/2014/main" id="{99A7D14B-CAF9-A936-EB49-19F63C59BF26}"/>
              </a:ext>
            </a:extLst>
          </p:cNvPr>
          <p:cNvSpPr txBox="1"/>
          <p:nvPr/>
        </p:nvSpPr>
        <p:spPr>
          <a:xfrm>
            <a:off x="7164342" y="1605584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Higher ε </a:t>
            </a:r>
            <a:r>
              <a:rPr lang="en-US" sz="1600" dirty="0">
                <a:solidFill>
                  <a:srgbClr val="005088"/>
                </a:solidFill>
              </a:rPr>
              <a:t>delays convergence by exploring too often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Results </a:t>
            </a:r>
            <a:r>
              <a:rPr lang="en-US" sz="1600" dirty="0">
                <a:solidFill>
                  <a:srgbClr val="005088"/>
                </a:solidFill>
              </a:rPr>
              <a:t>are consistent across both reward functions.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13" name="תיבת טקסט 21">
            <a:extLst>
              <a:ext uri="{FF2B5EF4-FFF2-40B4-BE49-F238E27FC236}">
                <a16:creationId xmlns:a16="http://schemas.microsoft.com/office/drawing/2014/main" id="{0522B4FA-1B50-88BC-B50C-C613A056FE69}"/>
              </a:ext>
            </a:extLst>
          </p:cNvPr>
          <p:cNvSpPr txBox="1"/>
          <p:nvPr/>
        </p:nvSpPr>
        <p:spPr>
          <a:xfrm>
            <a:off x="1570840" y="200596"/>
            <a:ext cx="9244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Hyperparameter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l-GR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(ε)</a:t>
            </a:r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Analysis:</a:t>
            </a:r>
          </a:p>
          <a:p>
            <a:pPr algn="ctr"/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Reward Comparison</a:t>
            </a:r>
            <a:endParaRPr lang="he-IL" sz="3200" b="1" dirty="0">
              <a:solidFill>
                <a:schemeClr val="bg2"/>
              </a:solidFill>
              <a:latin typeface="Merriweather" panose="00000500000000000000" pitchFamily="2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39DFC64-156C-A4CB-AF32-6FBB8B0B70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48" y="2907460"/>
            <a:ext cx="5579600" cy="390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A283573E-BBE2-E8D6-4ABB-73B84876B5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850" y="2979824"/>
            <a:ext cx="5460274" cy="3677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392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5C46F-6B99-28EE-E08C-0048B19AB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57A4F9-6A3B-EC90-819F-6E2091C7FED4}"/>
              </a:ext>
            </a:extLst>
          </p:cNvPr>
          <p:cNvSpPr/>
          <p:nvPr/>
        </p:nvSpPr>
        <p:spPr>
          <a:xfrm rot="575083">
            <a:off x="-3346206" y="-1575911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0B7478D-6073-C869-AA35-1A3C24EF630E}"/>
              </a:ext>
            </a:extLst>
          </p:cNvPr>
          <p:cNvSpPr/>
          <p:nvPr/>
        </p:nvSpPr>
        <p:spPr>
          <a:xfrm rot="-2227017">
            <a:off x="-982942" y="-30409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43E0E98-332C-C7C4-6CE8-22434A79BA15}"/>
              </a:ext>
            </a:extLst>
          </p:cNvPr>
          <p:cNvSpPr/>
          <p:nvPr/>
        </p:nvSpPr>
        <p:spPr>
          <a:xfrm rot="-2227017">
            <a:off x="2157118" y="6118376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AC653EC-5846-27E8-998E-E6E9D287F101}"/>
              </a:ext>
            </a:extLst>
          </p:cNvPr>
          <p:cNvSpPr/>
          <p:nvPr/>
        </p:nvSpPr>
        <p:spPr>
          <a:xfrm rot="3969514">
            <a:off x="1063034" y="1918010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7E2ECD2F-A3B3-747A-33B1-9D0BE862298A}"/>
              </a:ext>
            </a:extLst>
          </p:cNvPr>
          <p:cNvSpPr/>
          <p:nvPr/>
        </p:nvSpPr>
        <p:spPr>
          <a:xfrm rot="544328">
            <a:off x="9347025" y="-1415394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3EB6A8C6-2D39-AE4A-4B48-48B8F1494D77}"/>
              </a:ext>
            </a:extLst>
          </p:cNvPr>
          <p:cNvSpPr/>
          <p:nvPr/>
        </p:nvSpPr>
        <p:spPr>
          <a:xfrm rot="-1214190">
            <a:off x="9761760" y="-755008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5" name="Google Shape;156;p18">
            <a:extLst>
              <a:ext uri="{FF2B5EF4-FFF2-40B4-BE49-F238E27FC236}">
                <a16:creationId xmlns:a16="http://schemas.microsoft.com/office/drawing/2014/main" id="{D0FF3225-6D7A-76A8-3EC7-21B1F6B4BA4C}"/>
              </a:ext>
            </a:extLst>
          </p:cNvPr>
          <p:cNvSpPr txBox="1"/>
          <p:nvPr/>
        </p:nvSpPr>
        <p:spPr>
          <a:xfrm>
            <a:off x="2073260" y="1557873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Lower ε </a:t>
            </a:r>
            <a:r>
              <a:rPr lang="en-US" sz="1600" dirty="0">
                <a:solidFill>
                  <a:srgbClr val="005088"/>
                </a:solidFill>
              </a:rPr>
              <a:t>reduces episode length more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ε = 0.01–0.05 </a:t>
            </a:r>
            <a:r>
              <a:rPr lang="en-US" sz="1600" dirty="0">
                <a:solidFill>
                  <a:srgbClr val="005088"/>
                </a:solidFill>
              </a:rPr>
              <a:t>achieves the fastest convergence.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6" name="Google Shape;156;p18">
            <a:extLst>
              <a:ext uri="{FF2B5EF4-FFF2-40B4-BE49-F238E27FC236}">
                <a16:creationId xmlns:a16="http://schemas.microsoft.com/office/drawing/2014/main" id="{7350FDAC-D659-9799-0847-E4239FE13FDE}"/>
              </a:ext>
            </a:extLst>
          </p:cNvPr>
          <p:cNvSpPr txBox="1"/>
          <p:nvPr/>
        </p:nvSpPr>
        <p:spPr>
          <a:xfrm>
            <a:off x="7177737" y="1511233"/>
            <a:ext cx="3419278" cy="112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Higher ε </a:t>
            </a:r>
            <a:r>
              <a:rPr lang="en-US" sz="1600" dirty="0">
                <a:solidFill>
                  <a:srgbClr val="005088"/>
                </a:solidFill>
              </a:rPr>
              <a:t>keeps exploring after good policies are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00508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5088"/>
                </a:solidFill>
              </a:rPr>
              <a:t>Both reward functions </a:t>
            </a:r>
            <a:r>
              <a:rPr lang="en-US" sz="1600" dirty="0">
                <a:solidFill>
                  <a:srgbClr val="005088"/>
                </a:solidFill>
              </a:rPr>
              <a:t>show the same behavior</a:t>
            </a:r>
            <a:r>
              <a:rPr lang="en-US" sz="1600" b="1" dirty="0">
                <a:solidFill>
                  <a:srgbClr val="005088"/>
                </a:solidFill>
              </a:rPr>
              <a:t>.</a:t>
            </a:r>
            <a:endParaRPr lang="en-IL" sz="1600" dirty="0">
              <a:solidFill>
                <a:srgbClr val="005088"/>
              </a:solidFill>
            </a:endParaRPr>
          </a:p>
        </p:txBody>
      </p:sp>
      <p:sp>
        <p:nvSpPr>
          <p:cNvPr id="8" name="תיבת טקסט 21">
            <a:extLst>
              <a:ext uri="{FF2B5EF4-FFF2-40B4-BE49-F238E27FC236}">
                <a16:creationId xmlns:a16="http://schemas.microsoft.com/office/drawing/2014/main" id="{A6F3CE17-8164-3995-2DEC-8B06EFDE62AC}"/>
              </a:ext>
            </a:extLst>
          </p:cNvPr>
          <p:cNvSpPr txBox="1"/>
          <p:nvPr/>
        </p:nvSpPr>
        <p:spPr>
          <a:xfrm>
            <a:off x="1570840" y="200596"/>
            <a:ext cx="9244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Hyperparameter</a:t>
            </a:r>
            <a:r>
              <a:rPr lang="el-GR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(ε)</a:t>
            </a:r>
            <a:r>
              <a:rPr lang="he-IL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 </a:t>
            </a:r>
            <a:r>
              <a:rPr lang="en-US" sz="3200" b="1" dirty="0">
                <a:solidFill>
                  <a:schemeClr val="bg2"/>
                </a:solidFill>
                <a:latin typeface="Merriweather" panose="00000500000000000000" pitchFamily="2" charset="0"/>
              </a:rPr>
              <a:t>Analysis:</a:t>
            </a:r>
          </a:p>
          <a:p>
            <a:pPr algn="ctr"/>
            <a:r>
              <a:rPr lang="en-US" sz="32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Episode Length Comparison</a:t>
            </a:r>
            <a:endParaRPr lang="he-IL" sz="3200" b="1" dirty="0">
              <a:solidFill>
                <a:schemeClr val="bg2"/>
              </a:solidFill>
              <a:latin typeface="Merriweather" panose="00000500000000000000" pitchFamily="2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E1D81328-7E5D-D2CA-C676-3EEB8BB08C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03" y="2961316"/>
            <a:ext cx="5930537" cy="357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47068A0B-CA65-E773-DA44-EA21F2C419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661" y="2961316"/>
            <a:ext cx="5574336" cy="3577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95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4283B-0DCA-0F37-4C3E-B41AF9F5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99C0F4-A958-444C-0D48-680380ACAE1A}"/>
              </a:ext>
            </a:extLst>
          </p:cNvPr>
          <p:cNvSpPr/>
          <p:nvPr/>
        </p:nvSpPr>
        <p:spPr>
          <a:xfrm rot="575083">
            <a:off x="-3346206" y="-1575911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8" y="0"/>
                </a:lnTo>
                <a:lnTo>
                  <a:pt x="8668318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4E47730-2273-C97C-1C9B-F624027A3C50}"/>
              </a:ext>
            </a:extLst>
          </p:cNvPr>
          <p:cNvSpPr/>
          <p:nvPr/>
        </p:nvSpPr>
        <p:spPr>
          <a:xfrm rot="-2227017">
            <a:off x="-982942" y="-304095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F27D65-A9C0-01AB-EFA1-972AFA05C801}"/>
              </a:ext>
            </a:extLst>
          </p:cNvPr>
          <p:cNvSpPr/>
          <p:nvPr/>
        </p:nvSpPr>
        <p:spPr>
          <a:xfrm rot="-2227017">
            <a:off x="5453725" y="6359109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0E0B723-38FA-9CE6-C597-D1047D15FE33}"/>
              </a:ext>
            </a:extLst>
          </p:cNvPr>
          <p:cNvSpPr/>
          <p:nvPr/>
        </p:nvSpPr>
        <p:spPr>
          <a:xfrm rot="3969514">
            <a:off x="10368395" y="2405854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DBE8682B-DBBD-4607-8BEF-51B0C7592130}"/>
              </a:ext>
            </a:extLst>
          </p:cNvPr>
          <p:cNvSpPr/>
          <p:nvPr/>
        </p:nvSpPr>
        <p:spPr>
          <a:xfrm rot="544328">
            <a:off x="9347025" y="-1415394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EE9CB501-B1C5-7C72-5393-D1B0257AF4C3}"/>
              </a:ext>
            </a:extLst>
          </p:cNvPr>
          <p:cNvSpPr/>
          <p:nvPr/>
        </p:nvSpPr>
        <p:spPr>
          <a:xfrm rot="-1214190">
            <a:off x="9761760" y="-755008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pic>
        <p:nvPicPr>
          <p:cNvPr id="5" name="Google Shape;222;p23" descr="image.png">
            <a:extLst>
              <a:ext uri="{FF2B5EF4-FFF2-40B4-BE49-F238E27FC236}">
                <a16:creationId xmlns:a16="http://schemas.microsoft.com/office/drawing/2014/main" id="{C076C650-5D03-F443-00AF-778848DF806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0644" y="3249512"/>
            <a:ext cx="5334000" cy="24511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3;p23">
            <a:extLst>
              <a:ext uri="{FF2B5EF4-FFF2-40B4-BE49-F238E27FC236}">
                <a16:creationId xmlns:a16="http://schemas.microsoft.com/office/drawing/2014/main" id="{AEB396C4-DC8A-58FC-E6EE-8877E424EEC0}"/>
              </a:ext>
            </a:extLst>
          </p:cNvPr>
          <p:cNvSpPr txBox="1"/>
          <p:nvPr/>
        </p:nvSpPr>
        <p:spPr>
          <a:xfrm>
            <a:off x="1889734" y="1379226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Storytelling: Decisions &amp; Parameters</a:t>
            </a:r>
            <a:endParaRPr dirty="0"/>
          </a:p>
        </p:txBody>
      </p:sp>
      <p:sp>
        <p:nvSpPr>
          <p:cNvPr id="9" name="Google Shape;225;p23">
            <a:extLst>
              <a:ext uri="{FF2B5EF4-FFF2-40B4-BE49-F238E27FC236}">
                <a16:creationId xmlns:a16="http://schemas.microsoft.com/office/drawing/2014/main" id="{15843B39-4A8B-302E-08BF-E057C0FE807D}"/>
              </a:ext>
            </a:extLst>
          </p:cNvPr>
          <p:cNvSpPr txBox="1"/>
          <p:nvPr/>
        </p:nvSpPr>
        <p:spPr>
          <a:xfrm>
            <a:off x="544194" y="2337213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Hyper-parameters</a:t>
            </a:r>
            <a:endParaRPr dirty="0"/>
          </a:p>
        </p:txBody>
      </p:sp>
      <p:sp>
        <p:nvSpPr>
          <p:cNvPr id="12" name="Google Shape;226;p23">
            <a:extLst>
              <a:ext uri="{FF2B5EF4-FFF2-40B4-BE49-F238E27FC236}">
                <a16:creationId xmlns:a16="http://schemas.microsoft.com/office/drawing/2014/main" id="{DC135476-7C45-4D4E-586B-1159E19F74D4}"/>
              </a:ext>
            </a:extLst>
          </p:cNvPr>
          <p:cNvSpPr txBox="1"/>
          <p:nvPr/>
        </p:nvSpPr>
        <p:spPr>
          <a:xfrm>
            <a:off x="6716394" y="362420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Interesting Finding</a:t>
            </a:r>
            <a:endParaRPr dirty="0"/>
          </a:p>
        </p:txBody>
      </p:sp>
      <p:sp>
        <p:nvSpPr>
          <p:cNvPr id="13" name="Google Shape;227;p23">
            <a:extLst>
              <a:ext uri="{FF2B5EF4-FFF2-40B4-BE49-F238E27FC236}">
                <a16:creationId xmlns:a16="http://schemas.microsoft.com/office/drawing/2014/main" id="{90192896-6669-37FE-7E94-EDEF2375933C}"/>
              </a:ext>
            </a:extLst>
          </p:cNvPr>
          <p:cNvSpPr txBox="1"/>
          <p:nvPr/>
        </p:nvSpPr>
        <p:spPr>
          <a:xfrm>
            <a:off x="6716394" y="4157600"/>
            <a:ext cx="47625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rger kernel neighborhoods (20 neighbors) degraded learning quality.</a:t>
            </a:r>
          </a:p>
          <a:p>
            <a:pPr lvl="0">
              <a:lnSpc>
                <a:spcPct val="140000"/>
              </a:lnSpc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Limiting </a:t>
            </a:r>
            <a:r>
              <a:rPr 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updates to (5 neighbors) 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produced faster and more stable convergence.</a:t>
            </a:r>
            <a:endParaRPr dirty="0"/>
          </a:p>
        </p:txBody>
      </p:sp>
      <p:sp>
        <p:nvSpPr>
          <p:cNvPr id="14" name="Google Shape;228;p23">
            <a:extLst>
              <a:ext uri="{FF2B5EF4-FFF2-40B4-BE49-F238E27FC236}">
                <a16:creationId xmlns:a16="http://schemas.microsoft.com/office/drawing/2014/main" id="{2F26B597-537D-66A8-16CE-0EB9C1AABB0F}"/>
              </a:ext>
            </a:extLst>
          </p:cNvPr>
          <p:cNvSpPr txBox="1"/>
          <p:nvPr/>
        </p:nvSpPr>
        <p:spPr>
          <a:xfrm>
            <a:off x="953769" y="2822988"/>
            <a:ext cx="51911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α = 0.40 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sz="1500" dirty="0">
                <a:solidFill>
                  <a:schemeClr val="tx1"/>
                </a:solidFill>
                <a:latin typeface="+mj-lt"/>
              </a:rPr>
              <a:t>Best balance between convergence speed and final performance.</a:t>
            </a:r>
            <a:endParaRPr sz="15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Google Shape;229;p23">
            <a:extLst>
              <a:ext uri="{FF2B5EF4-FFF2-40B4-BE49-F238E27FC236}">
                <a16:creationId xmlns:a16="http://schemas.microsoft.com/office/drawing/2014/main" id="{F21207BB-2495-CC71-61A1-336EFB369B36}"/>
              </a:ext>
            </a:extLst>
          </p:cNvPr>
          <p:cNvSpPr txBox="1"/>
          <p:nvPr/>
        </p:nvSpPr>
        <p:spPr>
          <a:xfrm>
            <a:off x="953769" y="3575814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ε = 0.01: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sz="1500" dirty="0">
                <a:solidFill>
                  <a:schemeClr val="tx1"/>
                </a:solidFill>
                <a:latin typeface="+mj-lt"/>
              </a:rPr>
              <a:t>Achieved the most stable learning with the shortest episodes.</a:t>
            </a:r>
            <a:r>
              <a:rPr lang="he-IL" sz="1500" dirty="0">
                <a:solidFill>
                  <a:schemeClr val="tx1"/>
                </a:solidFill>
                <a:latin typeface="+mj-lt"/>
              </a:rPr>
              <a:t>.</a:t>
            </a:r>
            <a:endParaRPr sz="15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Google Shape;230;p23">
            <a:extLst>
              <a:ext uri="{FF2B5EF4-FFF2-40B4-BE49-F238E27FC236}">
                <a16:creationId xmlns:a16="http://schemas.microsoft.com/office/drawing/2014/main" id="{40189AE0-5DCE-9208-4DE1-AFBB051B49CC}"/>
              </a:ext>
            </a:extLst>
          </p:cNvPr>
          <p:cNvSpPr txBox="1"/>
          <p:nvPr/>
        </p:nvSpPr>
        <p:spPr>
          <a:xfrm>
            <a:off x="958138" y="4283989"/>
            <a:ext cx="50006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Planning Steps = 5: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 Five prioritized planning updates performed after every real interaction.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Google Shape;231;p23">
            <a:extLst>
              <a:ext uri="{FF2B5EF4-FFF2-40B4-BE49-F238E27FC236}">
                <a16:creationId xmlns:a16="http://schemas.microsoft.com/office/drawing/2014/main" id="{A4EC85E6-4B7F-5A9F-146F-7FC41CF105F7}"/>
              </a:ext>
            </a:extLst>
          </p:cNvPr>
          <p:cNvSpPr txBox="1"/>
          <p:nvPr/>
        </p:nvSpPr>
        <p:spPr>
          <a:xfrm>
            <a:off x="953769" y="5764688"/>
            <a:ext cx="50006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5 Seeds: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 Used to report reliable averages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8" name="Google Shape;232;p23" descr="image.png">
            <a:extLst>
              <a:ext uri="{FF2B5EF4-FFF2-40B4-BE49-F238E27FC236}">
                <a16:creationId xmlns:a16="http://schemas.microsoft.com/office/drawing/2014/main" id="{963FF333-769E-9024-5E7E-62E5964C8E2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394" y="29098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3;p23" descr="image.png">
            <a:extLst>
              <a:ext uri="{FF2B5EF4-FFF2-40B4-BE49-F238E27FC236}">
                <a16:creationId xmlns:a16="http://schemas.microsoft.com/office/drawing/2014/main" id="{C124AAF6-E93C-3309-C1BA-0107A6BBB9F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394" y="36556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34;p23" descr="image.png">
            <a:extLst>
              <a:ext uri="{FF2B5EF4-FFF2-40B4-BE49-F238E27FC236}">
                <a16:creationId xmlns:a16="http://schemas.microsoft.com/office/drawing/2014/main" id="{EF703D91-2F25-C044-FD12-127733A05CC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394" y="436149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35;p23" descr="image.png">
            <a:extLst>
              <a:ext uri="{FF2B5EF4-FFF2-40B4-BE49-F238E27FC236}">
                <a16:creationId xmlns:a16="http://schemas.microsoft.com/office/drawing/2014/main" id="{B1D996F9-197F-BCEF-B2B3-17B67B1BDAA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394" y="584702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30;p23">
            <a:extLst>
              <a:ext uri="{FF2B5EF4-FFF2-40B4-BE49-F238E27FC236}">
                <a16:creationId xmlns:a16="http://schemas.microsoft.com/office/drawing/2014/main" id="{4372D38C-6A18-9F69-5D43-6ADF9B1D3557}"/>
              </a:ext>
            </a:extLst>
          </p:cNvPr>
          <p:cNvSpPr txBox="1"/>
          <p:nvPr/>
        </p:nvSpPr>
        <p:spPr>
          <a:xfrm>
            <a:off x="958138" y="5006105"/>
            <a:ext cx="50006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Kernel Neighbors = 5: </a:t>
            </a:r>
            <a:r>
              <a:rPr lang="en-US" sz="1500" i="0" u="none" strike="noStrike" cap="none" dirty="0">
                <a:solidFill>
                  <a:schemeClr val="tx1"/>
                </a:solidFill>
                <a:latin typeface="+mj-lt"/>
                <a:ea typeface="DM Sans"/>
                <a:cs typeface="DM Sans"/>
                <a:sym typeface="DM Sans"/>
              </a:rPr>
              <a:t>Limited updates to the 5 nearest task-equivalent states.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2" name="Google Shape;234;p23" descr="image.png">
            <a:extLst>
              <a:ext uri="{FF2B5EF4-FFF2-40B4-BE49-F238E27FC236}">
                <a16:creationId xmlns:a16="http://schemas.microsoft.com/office/drawing/2014/main" id="{6B957692-5841-83CD-7232-F28DD642F03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394" y="508360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4337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9F7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5083">
            <a:off x="-2637946" y="3960250"/>
            <a:ext cx="5778879" cy="3225665"/>
          </a:xfrm>
          <a:custGeom>
            <a:avLst/>
            <a:gdLst/>
            <a:ahLst/>
            <a:cxnLst/>
            <a:rect l="l" t="t" r="r" b="b"/>
            <a:pathLst>
              <a:path w="8668318" h="4838498">
                <a:moveTo>
                  <a:pt x="0" y="0"/>
                </a:moveTo>
                <a:lnTo>
                  <a:pt x="8668319" y="0"/>
                </a:lnTo>
                <a:lnTo>
                  <a:pt x="8668319" y="4838498"/>
                </a:lnTo>
                <a:lnTo>
                  <a:pt x="0" y="483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3" name="Freeform 3"/>
          <p:cNvSpPr/>
          <p:nvPr/>
        </p:nvSpPr>
        <p:spPr>
          <a:xfrm rot="544328">
            <a:off x="8492516" y="-1221125"/>
            <a:ext cx="5187894" cy="2895788"/>
          </a:xfrm>
          <a:custGeom>
            <a:avLst/>
            <a:gdLst/>
            <a:ahLst/>
            <a:cxnLst/>
            <a:rect l="l" t="t" r="r" b="b"/>
            <a:pathLst>
              <a:path w="7781841" h="4343682">
                <a:moveTo>
                  <a:pt x="0" y="0"/>
                </a:moveTo>
                <a:lnTo>
                  <a:pt x="7781841" y="0"/>
                </a:lnTo>
                <a:lnTo>
                  <a:pt x="7781841" y="4343682"/>
                </a:lnTo>
                <a:lnTo>
                  <a:pt x="0" y="43436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4" name="Freeform 4"/>
          <p:cNvSpPr/>
          <p:nvPr/>
        </p:nvSpPr>
        <p:spPr>
          <a:xfrm rot="-2227017">
            <a:off x="-949622" y="4832510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8"/>
                </a:lnTo>
                <a:lnTo>
                  <a:pt x="0" y="2221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5" name="Freeform 5"/>
          <p:cNvSpPr/>
          <p:nvPr/>
        </p:nvSpPr>
        <p:spPr>
          <a:xfrm rot="-1214190">
            <a:off x="9294526" y="186200"/>
            <a:ext cx="3583874" cy="1481145"/>
          </a:xfrm>
          <a:custGeom>
            <a:avLst/>
            <a:gdLst/>
            <a:ahLst/>
            <a:cxnLst/>
            <a:rect l="l" t="t" r="r" b="b"/>
            <a:pathLst>
              <a:path w="5375811" h="2221718">
                <a:moveTo>
                  <a:pt x="0" y="0"/>
                </a:moveTo>
                <a:lnTo>
                  <a:pt x="5375811" y="0"/>
                </a:lnTo>
                <a:lnTo>
                  <a:pt x="5375811" y="2221717"/>
                </a:lnTo>
                <a:lnTo>
                  <a:pt x="0" y="2221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  <p:sp>
        <p:nvSpPr>
          <p:cNvPr id="6" name="Freeform 6"/>
          <p:cNvSpPr/>
          <p:nvPr/>
        </p:nvSpPr>
        <p:spPr>
          <a:xfrm rot="3969514">
            <a:off x="11059331" y="2717862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7" name="Freeform 7"/>
          <p:cNvSpPr/>
          <p:nvPr/>
        </p:nvSpPr>
        <p:spPr>
          <a:xfrm rot="3969514">
            <a:off x="830304" y="2717862"/>
            <a:ext cx="534943" cy="664419"/>
          </a:xfrm>
          <a:custGeom>
            <a:avLst/>
            <a:gdLst/>
            <a:ahLst/>
            <a:cxnLst/>
            <a:rect l="l" t="t" r="r" b="b"/>
            <a:pathLst>
              <a:path w="802414" h="996629">
                <a:moveTo>
                  <a:pt x="0" y="0"/>
                </a:moveTo>
                <a:lnTo>
                  <a:pt x="802414" y="0"/>
                </a:lnTo>
                <a:lnTo>
                  <a:pt x="802414" y="996629"/>
                </a:lnTo>
                <a:lnTo>
                  <a:pt x="0" y="996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8" name="Freeform 8"/>
          <p:cNvSpPr/>
          <p:nvPr/>
        </p:nvSpPr>
        <p:spPr>
          <a:xfrm rot="578388">
            <a:off x="974166" y="518621"/>
            <a:ext cx="1828735" cy="1728985"/>
          </a:xfrm>
          <a:custGeom>
            <a:avLst/>
            <a:gdLst/>
            <a:ahLst/>
            <a:cxnLst/>
            <a:rect l="l" t="t" r="r" b="b"/>
            <a:pathLst>
              <a:path w="2743102" h="2593478">
                <a:moveTo>
                  <a:pt x="0" y="0"/>
                </a:moveTo>
                <a:lnTo>
                  <a:pt x="2743102" y="0"/>
                </a:lnTo>
                <a:lnTo>
                  <a:pt x="2743102" y="2593478"/>
                </a:lnTo>
                <a:lnTo>
                  <a:pt x="0" y="2593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sp>
        <p:nvSpPr>
          <p:cNvPr id="9" name="Freeform 9"/>
          <p:cNvSpPr/>
          <p:nvPr/>
        </p:nvSpPr>
        <p:spPr>
          <a:xfrm>
            <a:off x="9064732" y="4369473"/>
            <a:ext cx="2441469" cy="2130737"/>
          </a:xfrm>
          <a:custGeom>
            <a:avLst/>
            <a:gdLst/>
            <a:ahLst/>
            <a:cxnLst/>
            <a:rect l="l" t="t" r="r" b="b"/>
            <a:pathLst>
              <a:path w="3662203" h="3196105">
                <a:moveTo>
                  <a:pt x="0" y="0"/>
                </a:moveTo>
                <a:lnTo>
                  <a:pt x="3662203" y="0"/>
                </a:lnTo>
                <a:lnTo>
                  <a:pt x="3662203" y="3196105"/>
                </a:lnTo>
                <a:lnTo>
                  <a:pt x="0" y="3196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 sz="933"/>
          </a:p>
        </p:txBody>
      </p:sp>
      <p:pic>
        <p:nvPicPr>
          <p:cNvPr id="12" name="Google Shape;242;p24" descr="image.png">
            <a:extLst>
              <a:ext uri="{FF2B5EF4-FFF2-40B4-BE49-F238E27FC236}">
                <a16:creationId xmlns:a16="http://schemas.microsoft.com/office/drawing/2014/main" id="{75617045-36B1-FAD5-2BD1-21C7F2F0D1F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6580" y="3474691"/>
            <a:ext cx="7580537" cy="1257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43;p24">
            <a:extLst>
              <a:ext uri="{FF2B5EF4-FFF2-40B4-BE49-F238E27FC236}">
                <a16:creationId xmlns:a16="http://schemas.microsoft.com/office/drawing/2014/main" id="{F8D7549D-F7BF-440A-3C5A-450BF4203C46}"/>
              </a:ext>
            </a:extLst>
          </p:cNvPr>
          <p:cNvSpPr txBox="1"/>
          <p:nvPr/>
        </p:nvSpPr>
        <p:spPr>
          <a:xfrm>
            <a:off x="4093827" y="1716659"/>
            <a:ext cx="431053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bg2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4" name="Google Shape;244;p24">
            <a:extLst>
              <a:ext uri="{FF2B5EF4-FFF2-40B4-BE49-F238E27FC236}">
                <a16:creationId xmlns:a16="http://schemas.microsoft.com/office/drawing/2014/main" id="{BE9A632D-76A7-97FD-D280-A50EC0E89982}"/>
              </a:ext>
            </a:extLst>
          </p:cNvPr>
          <p:cNvSpPr txBox="1"/>
          <p:nvPr/>
        </p:nvSpPr>
        <p:spPr>
          <a:xfrm>
            <a:off x="3792847" y="3821008"/>
            <a:ext cx="536056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Thank you for your attention.</a:t>
            </a:r>
            <a:endParaRPr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976</Words>
  <Application>Microsoft Office PowerPoint</Application>
  <PresentationFormat>מסך רחב</PresentationFormat>
  <Paragraphs>147</Paragraphs>
  <Slides>18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10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9" baseType="lpstr">
      <vt:lpstr>Merriweather</vt:lpstr>
      <vt:lpstr>Wingdings</vt:lpstr>
      <vt:lpstr>Lato</vt:lpstr>
      <vt:lpstr>Constantia</vt:lpstr>
      <vt:lpstr>DM Sans</vt:lpstr>
      <vt:lpstr>Poppins SemiBold</vt:lpstr>
      <vt:lpstr>Arial</vt:lpstr>
      <vt:lpstr>Amasis MT Pro Medium</vt:lpstr>
      <vt:lpstr>DM Sans Medium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בראאה דחלה</cp:lastModifiedBy>
  <cp:revision>22</cp:revision>
  <dcterms:modified xsi:type="dcterms:W3CDTF">2026-07-01T08:58:48Z</dcterms:modified>
</cp:coreProperties>
</file>